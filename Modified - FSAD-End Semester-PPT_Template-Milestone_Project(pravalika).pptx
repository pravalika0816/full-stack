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74" r:id="rId8"/>
    <p:sldId id="262" r:id="rId9"/>
    <p:sldId id="263" r:id="rId10"/>
    <p:sldId id="264" r:id="rId11"/>
    <p:sldId id="275" r:id="rId12"/>
    <p:sldId id="266" r:id="rId13"/>
    <p:sldId id="269" r:id="rId14"/>
    <p:sldId id="267" r:id="rId15"/>
    <p:sldId id="268" r:id="rId16"/>
    <p:sldId id="272" r:id="rId17"/>
    <p:sldId id="271" r:id="rId18"/>
    <p:sldId id="273" r:id="rId19"/>
    <p:sldId id="270" r:id="rId20"/>
    <p:sldId id="265" r:id="rId21"/>
  </p:sldIdLst>
  <p:sldSz cx="18288000" cy="10287000"/>
  <p:notesSz cx="6858000" cy="9144000"/>
  <p:embeddedFontLst>
    <p:embeddedFont>
      <p:font typeface="Bookman Old Style" panose="02050604050505020204" pitchFamily="18" charset="0"/>
      <p:regular r:id="rId22"/>
      <p:bold r:id="rId23"/>
      <p:italic r:id="rId24"/>
      <p:boldItalic r:id="rId25"/>
    </p:embeddedFont>
    <p:embeddedFont>
      <p:font typeface="Cambria" panose="02040503050406030204" pitchFamily="18" charset="0"/>
      <p:regular r:id="rId26"/>
      <p:bold r:id="rId27"/>
      <p:italic r:id="rId28"/>
      <p:boldItalic r:id="rId29"/>
    </p:embeddedFont>
    <p:embeddedFont>
      <p:font typeface="Gotham" panose="020B0604020202020204" charset="0"/>
      <p:regular r:id="rId30"/>
    </p:embeddedFont>
    <p:embeddedFont>
      <p:font typeface="Gotham Bold Italics" panose="020B0604020202020204" charset="0"/>
      <p:regular r:id="rId3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3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51" d="100"/>
          <a:sy n="51" d="100"/>
        </p:scale>
        <p:origin x="254" y="53"/>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5.fntdata"/><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4.fntdata"/><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8.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3.fntdata"/><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2.fntdata"/><Relationship Id="rId28" Type="http://schemas.openxmlformats.org/officeDocument/2006/relationships/font" Target="fonts/font7.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10.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1.fntdata"/><Relationship Id="rId27" Type="http://schemas.openxmlformats.org/officeDocument/2006/relationships/font" Target="fonts/font6.fntdata"/><Relationship Id="rId30" Type="http://schemas.openxmlformats.org/officeDocument/2006/relationships/font" Target="fonts/font9.fntdata"/><Relationship Id="rId35" Type="http://schemas.openxmlformats.org/officeDocument/2006/relationships/tableStyles" Target="tableStyles.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5/5/2026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5/5/2026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5/5/2026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5/5/2026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5/5/2026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5/5/2026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5/5/2026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Group 10"/>
          <p:cNvGrpSpPr/>
          <p:nvPr/>
        </p:nvGrpSpPr>
        <p:grpSpPr>
          <a:xfrm>
            <a:off x="11762088" y="-9632634"/>
            <a:ext cx="10994424" cy="10994424"/>
            <a:chOff x="0" y="0"/>
            <a:chExt cx="812800" cy="812800"/>
          </a:xfrm>
        </p:grpSpPr>
        <p:sp>
          <p:nvSpPr>
            <p:cNvPr id="11" name="Freeform 1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12" name="TextBox 12"/>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21" name="TextBox 21"/>
          <p:cNvSpPr txBox="1"/>
          <p:nvPr/>
        </p:nvSpPr>
        <p:spPr>
          <a:xfrm>
            <a:off x="-8934997" y="-738931"/>
            <a:ext cx="8932970" cy="9319492"/>
          </a:xfrm>
          <a:prstGeom prst="rect">
            <a:avLst/>
          </a:prstGeom>
        </p:spPr>
        <p:txBody>
          <a:bodyPr lIns="50800" tIns="50800" rIns="50800" bIns="50800" rtlCol="0" anchor="ctr"/>
          <a:lstStyle/>
          <a:p>
            <a:pPr algn="ctr">
              <a:lnSpc>
                <a:spcPts val="2659"/>
              </a:lnSpc>
            </a:pPr>
            <a:endParaRPr/>
          </a:p>
        </p:txBody>
      </p:sp>
      <p:pic>
        <p:nvPicPr>
          <p:cNvPr id="23" name="Picture 22">
            <a:extLst>
              <a:ext uri="{FF2B5EF4-FFF2-40B4-BE49-F238E27FC236}">
                <a16:creationId xmlns:a16="http://schemas.microsoft.com/office/drawing/2014/main" id="{1194AAA3-5CF4-E695-04C9-0894FFF6F1F1}"/>
              </a:ext>
            </a:extLst>
          </p:cNvPr>
          <p:cNvPicPr>
            <a:picLocks noChangeAspect="1"/>
          </p:cNvPicPr>
          <p:nvPr/>
        </p:nvPicPr>
        <p:blipFill>
          <a:blip r:embed="rId2"/>
          <a:stretch>
            <a:fillRect/>
          </a:stretch>
        </p:blipFill>
        <p:spPr>
          <a:xfrm>
            <a:off x="6799772" y="16492"/>
            <a:ext cx="4131816" cy="1784622"/>
          </a:xfrm>
          <a:prstGeom prst="rect">
            <a:avLst/>
          </a:prstGeom>
        </p:spPr>
      </p:pic>
      <p:sp>
        <p:nvSpPr>
          <p:cNvPr id="24" name="TextBox 23">
            <a:extLst>
              <a:ext uri="{FF2B5EF4-FFF2-40B4-BE49-F238E27FC236}">
                <a16:creationId xmlns:a16="http://schemas.microsoft.com/office/drawing/2014/main" id="{BB0EB85C-D9CE-08DC-1131-77C9DD1A002D}"/>
              </a:ext>
            </a:extLst>
          </p:cNvPr>
          <p:cNvSpPr txBox="1"/>
          <p:nvPr/>
        </p:nvSpPr>
        <p:spPr>
          <a:xfrm>
            <a:off x="1360002" y="1608482"/>
            <a:ext cx="15925800" cy="1631216"/>
          </a:xfrm>
          <a:prstGeom prst="rect">
            <a:avLst/>
          </a:prstGeom>
          <a:noFill/>
        </p:spPr>
        <p:txBody>
          <a:bodyPr wrap="square" rtlCol="0">
            <a:spAutoFit/>
          </a:bodyPr>
          <a:lstStyle/>
          <a:p>
            <a:pPr algn="ctr"/>
            <a:r>
              <a:rPr lang="en-US" sz="3200" b="1" dirty="0">
                <a:latin typeface="Cambria" panose="02040503050406030204" pitchFamily="18" charset="0"/>
                <a:ea typeface="Cambria" panose="02040503050406030204" pitchFamily="18" charset="0"/>
              </a:rPr>
              <a:t>Vel Tech Rangarajan Dr. Sagunthala R&amp;D Institute of Science and Technology</a:t>
            </a:r>
          </a:p>
          <a:p>
            <a:pPr algn="ctr"/>
            <a:r>
              <a:rPr lang="en-US" sz="3600" b="1" dirty="0">
                <a:latin typeface="Cambria" panose="02040503050406030204" pitchFamily="18" charset="0"/>
                <a:ea typeface="Cambria" panose="02040503050406030204" pitchFamily="18" charset="0"/>
              </a:rPr>
              <a:t>School of Computing </a:t>
            </a:r>
          </a:p>
          <a:p>
            <a:pPr algn="ctr"/>
            <a:r>
              <a:rPr lang="en-US" sz="3200" b="1" dirty="0">
                <a:latin typeface="Cambria" panose="02040503050406030204" pitchFamily="18" charset="0"/>
                <a:ea typeface="Cambria" panose="02040503050406030204" pitchFamily="18" charset="0"/>
              </a:rPr>
              <a:t>Department of Computer Science and Engineering</a:t>
            </a:r>
            <a:endParaRPr lang="en-IN" sz="3200" b="1" dirty="0">
              <a:latin typeface="Cambria" panose="02040503050406030204" pitchFamily="18" charset="0"/>
              <a:ea typeface="Cambria" panose="02040503050406030204" pitchFamily="18" charset="0"/>
            </a:endParaRPr>
          </a:p>
        </p:txBody>
      </p:sp>
      <p:sp>
        <p:nvSpPr>
          <p:cNvPr id="26" name="TextBox 25">
            <a:extLst>
              <a:ext uri="{FF2B5EF4-FFF2-40B4-BE49-F238E27FC236}">
                <a16:creationId xmlns:a16="http://schemas.microsoft.com/office/drawing/2014/main" id="{55785AF5-58C8-2624-E1FD-4723B0683DE6}"/>
              </a:ext>
            </a:extLst>
          </p:cNvPr>
          <p:cNvSpPr txBox="1"/>
          <p:nvPr/>
        </p:nvSpPr>
        <p:spPr>
          <a:xfrm>
            <a:off x="1692835" y="3272357"/>
            <a:ext cx="15260135" cy="523220"/>
          </a:xfrm>
          <a:prstGeom prst="rect">
            <a:avLst/>
          </a:prstGeom>
          <a:noFill/>
        </p:spPr>
        <p:txBody>
          <a:bodyPr wrap="square">
            <a:spAutoFit/>
          </a:bodyPr>
          <a:lstStyle/>
          <a:p>
            <a:pPr algn="ctr"/>
            <a:r>
              <a:rPr lang="en-US" sz="2800" b="1" dirty="0">
                <a:solidFill>
                  <a:srgbClr val="0033CC"/>
                </a:solidFill>
                <a:latin typeface="Bookman Old Style" panose="02050604050505020204" pitchFamily="18" charset="0"/>
              </a:rPr>
              <a:t>10211CS224 / FULL STACK APPLICATION DEVELOPMENT (JAVA)</a:t>
            </a:r>
            <a:endParaRPr lang="en-IN" sz="2800" b="1" dirty="0">
              <a:solidFill>
                <a:srgbClr val="0033CC"/>
              </a:solidFill>
              <a:latin typeface="Bookman Old Style" panose="02050604050505020204" pitchFamily="18" charset="0"/>
            </a:endParaRPr>
          </a:p>
        </p:txBody>
      </p:sp>
      <p:sp>
        <p:nvSpPr>
          <p:cNvPr id="27" name="TextBox 26">
            <a:extLst>
              <a:ext uri="{FF2B5EF4-FFF2-40B4-BE49-F238E27FC236}">
                <a16:creationId xmlns:a16="http://schemas.microsoft.com/office/drawing/2014/main" id="{AC6C53BF-3850-6683-E07F-D595EC8B02B2}"/>
              </a:ext>
            </a:extLst>
          </p:cNvPr>
          <p:cNvSpPr txBox="1"/>
          <p:nvPr/>
        </p:nvSpPr>
        <p:spPr>
          <a:xfrm>
            <a:off x="3727757" y="3897940"/>
            <a:ext cx="11190289" cy="1754326"/>
          </a:xfrm>
          <a:prstGeom prst="rect">
            <a:avLst/>
          </a:prstGeom>
          <a:noFill/>
        </p:spPr>
        <p:txBody>
          <a:bodyPr wrap="square" rtlCol="0">
            <a:spAutoFit/>
          </a:bodyPr>
          <a:lstStyle/>
          <a:p>
            <a:pPr algn="ctr"/>
            <a:r>
              <a:rPr lang="en-IN" sz="3600" b="1" dirty="0">
                <a:solidFill>
                  <a:srgbClr val="C00000"/>
                </a:solidFill>
                <a:latin typeface="Arial" panose="020B0604020202020204" pitchFamily="34" charset="0"/>
                <a:cs typeface="Arial" panose="020B0604020202020204" pitchFamily="34" charset="0"/>
              </a:rPr>
              <a:t>END SEMESTER PROJECT REVIEW</a:t>
            </a:r>
          </a:p>
          <a:p>
            <a:pPr algn="ctr"/>
            <a:endParaRPr lang="en-IN" sz="3600" b="1" dirty="0">
              <a:solidFill>
                <a:srgbClr val="C00000"/>
              </a:solidFill>
              <a:latin typeface="Arial" panose="020B0604020202020204" pitchFamily="34" charset="0"/>
              <a:cs typeface="Arial" panose="020B0604020202020204" pitchFamily="34" charset="0"/>
            </a:endParaRPr>
          </a:p>
          <a:p>
            <a:pPr algn="ctr"/>
            <a:r>
              <a:rPr lang="en-IN" sz="3600" b="1" dirty="0">
                <a:solidFill>
                  <a:srgbClr val="C00000"/>
                </a:solidFill>
                <a:latin typeface="Arial" panose="020B0604020202020204" pitchFamily="34" charset="0"/>
                <a:cs typeface="Arial" panose="020B0604020202020204" pitchFamily="34" charset="0"/>
              </a:rPr>
              <a:t>Date: 06-05-2026</a:t>
            </a:r>
          </a:p>
        </p:txBody>
      </p:sp>
      <p:sp>
        <p:nvSpPr>
          <p:cNvPr id="13" name="TextBox 12">
            <a:extLst>
              <a:ext uri="{FF2B5EF4-FFF2-40B4-BE49-F238E27FC236}">
                <a16:creationId xmlns:a16="http://schemas.microsoft.com/office/drawing/2014/main" id="{7FFE0DA2-4723-7C13-5FD7-FC99B0394DDD}"/>
              </a:ext>
            </a:extLst>
          </p:cNvPr>
          <p:cNvSpPr txBox="1"/>
          <p:nvPr/>
        </p:nvSpPr>
        <p:spPr>
          <a:xfrm>
            <a:off x="1501640" y="6057900"/>
            <a:ext cx="15784162" cy="584775"/>
          </a:xfrm>
          <a:prstGeom prst="rect">
            <a:avLst/>
          </a:prstGeom>
          <a:noFill/>
        </p:spPr>
        <p:txBody>
          <a:bodyPr wrap="square" rtlCol="0">
            <a:spAutoFit/>
          </a:bodyPr>
          <a:lstStyle/>
          <a:p>
            <a:pPr algn="ctr"/>
            <a:r>
              <a:rPr lang="en-US" sz="3200" b="1" dirty="0">
                <a:solidFill>
                  <a:srgbClr val="0033CC"/>
                </a:solidFill>
                <a:latin typeface="Times New Roman" panose="02020603050405020304" pitchFamily="18" charset="0"/>
                <a:cs typeface="Times New Roman" panose="02020603050405020304" pitchFamily="18" charset="0"/>
              </a:rPr>
              <a:t>“TRAVEL TICKET BOOKING SYSTEM”</a:t>
            </a:r>
            <a:endParaRPr lang="en-IN" sz="3200" b="1" dirty="0">
              <a:solidFill>
                <a:srgbClr val="0033CC"/>
              </a:solidFill>
              <a:latin typeface="Times New Roman" panose="02020603050405020304" pitchFamily="18" charset="0"/>
              <a:cs typeface="Times New Roman" panose="02020603050405020304" pitchFamily="18" charset="0"/>
            </a:endParaRPr>
          </a:p>
        </p:txBody>
      </p:sp>
      <p:sp>
        <p:nvSpPr>
          <p:cNvPr id="14" name="TextBox 13">
            <a:extLst>
              <a:ext uri="{FF2B5EF4-FFF2-40B4-BE49-F238E27FC236}">
                <a16:creationId xmlns:a16="http://schemas.microsoft.com/office/drawing/2014/main" id="{EA8EEF4A-EB43-B7D9-87FC-7C7D752BCA78}"/>
              </a:ext>
            </a:extLst>
          </p:cNvPr>
          <p:cNvSpPr txBox="1"/>
          <p:nvPr/>
        </p:nvSpPr>
        <p:spPr>
          <a:xfrm>
            <a:off x="533400" y="7884729"/>
            <a:ext cx="9697215" cy="1391663"/>
          </a:xfrm>
          <a:prstGeom prst="rect">
            <a:avLst/>
          </a:prstGeom>
          <a:noFill/>
        </p:spPr>
        <p:txBody>
          <a:bodyPr wrap="square" rtlCol="0">
            <a:spAutoFit/>
          </a:bodyPr>
          <a:lstStyle/>
          <a:p>
            <a:pPr>
              <a:lnSpc>
                <a:spcPct val="150000"/>
              </a:lnSpc>
            </a:pPr>
            <a:r>
              <a:rPr lang="en-US" sz="3000" b="1" dirty="0">
                <a:latin typeface="Cambria" panose="02040503050406030204" pitchFamily="18" charset="0"/>
                <a:ea typeface="Cambria" panose="02040503050406030204" pitchFamily="18" charset="0"/>
              </a:rPr>
              <a:t>Presented By:</a:t>
            </a:r>
          </a:p>
          <a:p>
            <a:pPr>
              <a:lnSpc>
                <a:spcPct val="150000"/>
              </a:lnSpc>
            </a:pPr>
            <a:r>
              <a:rPr lang="en-US" sz="3000" dirty="0">
                <a:latin typeface="Cambria" panose="02040503050406030204" pitchFamily="18" charset="0"/>
                <a:ea typeface="Cambria" panose="02040503050406030204" pitchFamily="18" charset="0"/>
              </a:rPr>
              <a:t>O.VENKATA NAGA PRAVALIKA– VTU25784– 23UECS0408</a:t>
            </a:r>
            <a:endParaRPr lang="en-IN" sz="3000" dirty="0">
              <a:latin typeface="Cambria" panose="02040503050406030204" pitchFamily="18" charset="0"/>
              <a:ea typeface="Cambria" panose="02040503050406030204" pitchFamily="18" charset="0"/>
            </a:endParaRPr>
          </a:p>
        </p:txBody>
      </p:sp>
      <p:sp>
        <p:nvSpPr>
          <p:cNvPr id="15" name="TextBox 14">
            <a:extLst>
              <a:ext uri="{FF2B5EF4-FFF2-40B4-BE49-F238E27FC236}">
                <a16:creationId xmlns:a16="http://schemas.microsoft.com/office/drawing/2014/main" id="{6FF32D1A-2F9C-AC53-CCBD-ABF748DF236F}"/>
              </a:ext>
            </a:extLst>
          </p:cNvPr>
          <p:cNvSpPr txBox="1"/>
          <p:nvPr/>
        </p:nvSpPr>
        <p:spPr>
          <a:xfrm>
            <a:off x="10956572" y="7887732"/>
            <a:ext cx="6914603" cy="1391663"/>
          </a:xfrm>
          <a:prstGeom prst="rect">
            <a:avLst/>
          </a:prstGeom>
          <a:noFill/>
        </p:spPr>
        <p:txBody>
          <a:bodyPr wrap="square" rtlCol="0">
            <a:spAutoFit/>
          </a:bodyPr>
          <a:lstStyle/>
          <a:p>
            <a:pPr>
              <a:lnSpc>
                <a:spcPct val="150000"/>
              </a:lnSpc>
            </a:pPr>
            <a:r>
              <a:rPr lang="en-US" sz="3000" b="1" dirty="0">
                <a:latin typeface="Cambria" panose="02040503050406030204" pitchFamily="18" charset="0"/>
                <a:ea typeface="Cambria" panose="02040503050406030204" pitchFamily="18" charset="0"/>
              </a:rPr>
              <a:t>Courses Handling Faculty:</a:t>
            </a:r>
          </a:p>
          <a:p>
            <a:pPr>
              <a:lnSpc>
                <a:spcPct val="150000"/>
              </a:lnSpc>
            </a:pPr>
            <a:r>
              <a:rPr lang="en-US" sz="3000" dirty="0">
                <a:latin typeface="Cambria" panose="02040503050406030204" pitchFamily="18" charset="0"/>
                <a:ea typeface="Cambria" panose="02040503050406030204" pitchFamily="18" charset="0"/>
              </a:rPr>
              <a:t>Dr. M.SUMITHRA – Assistant professor</a:t>
            </a:r>
            <a:endParaRPr lang="en-IN" sz="3000" dirty="0">
              <a:latin typeface="Cambria" panose="02040503050406030204" pitchFamily="18" charset="0"/>
              <a:ea typeface="Cambria" panose="02040503050406030204" pitchFamily="18" charset="0"/>
            </a:endParaRPr>
          </a:p>
        </p:txBody>
      </p:sp>
      <p:sp>
        <p:nvSpPr>
          <p:cNvPr id="16" name="TextBox 15">
            <a:extLst>
              <a:ext uri="{FF2B5EF4-FFF2-40B4-BE49-F238E27FC236}">
                <a16:creationId xmlns:a16="http://schemas.microsoft.com/office/drawing/2014/main" id="{A7AA51DE-E8D7-A1B4-BC0D-B25C8A0C467A}"/>
              </a:ext>
            </a:extLst>
          </p:cNvPr>
          <p:cNvSpPr txBox="1"/>
          <p:nvPr/>
        </p:nvSpPr>
        <p:spPr>
          <a:xfrm>
            <a:off x="2209800" y="6972300"/>
            <a:ext cx="14743170" cy="400110"/>
          </a:xfrm>
          <a:prstGeom prst="rect">
            <a:avLst/>
          </a:prstGeom>
          <a:noFill/>
        </p:spPr>
        <p:txBody>
          <a:bodyPr wrap="square" rtlCol="0">
            <a:spAutoFit/>
          </a:bodyPr>
          <a:lstStyle/>
          <a:p>
            <a:r>
              <a:rPr lang="en-US" sz="2000" b="1" dirty="0">
                <a:latin typeface="Cambria" panose="02040503050406030204" pitchFamily="18" charset="0"/>
                <a:ea typeface="Cambria" panose="02040503050406030204" pitchFamily="18" charset="0"/>
              </a:rPr>
              <a:t>SDG:</a:t>
            </a:r>
            <a:r>
              <a:rPr lang="en-US" sz="2000" b="1" dirty="0">
                <a:latin typeface="Times New Roman" panose="02020603050405020304" pitchFamily="18" charset="0"/>
                <a:cs typeface="Times New Roman" panose="02020603050405020304" pitchFamily="18" charset="0"/>
              </a:rPr>
              <a:t>SDG 9 – Industry, Innovation and Infrastructure</a:t>
            </a:r>
            <a:endParaRPr lang="en-IN" sz="2000" b="1" dirty="0">
              <a:latin typeface="Times New Roman" panose="02020603050405020304" pitchFamily="18" charset="0"/>
              <a:ea typeface="Cambria" panose="020405030504060302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Group 9"/>
          <p:cNvGrpSpPr/>
          <p:nvPr/>
        </p:nvGrpSpPr>
        <p:grpSpPr>
          <a:xfrm>
            <a:off x="706082" y="1952203"/>
            <a:ext cx="992463" cy="992463"/>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1" name="TextBox 11"/>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dirty="0">
                  <a:solidFill>
                    <a:srgbClr val="FFFEFE"/>
                  </a:solidFill>
                  <a:latin typeface="Gotham"/>
                  <a:ea typeface="Gotham"/>
                  <a:cs typeface="Gotham"/>
                  <a:sym typeface="Gotham"/>
                </a:rPr>
                <a:t>1</a:t>
              </a:r>
            </a:p>
          </p:txBody>
        </p:sp>
      </p:grpSp>
      <p:grpSp>
        <p:nvGrpSpPr>
          <p:cNvPr id="12" name="Group 12"/>
          <p:cNvGrpSpPr/>
          <p:nvPr/>
        </p:nvGrpSpPr>
        <p:grpSpPr>
          <a:xfrm>
            <a:off x="948235" y="4447339"/>
            <a:ext cx="508158" cy="543805"/>
            <a:chOff x="0" y="0"/>
            <a:chExt cx="812800" cy="869819"/>
          </a:xfrm>
        </p:grpSpPr>
        <p:sp>
          <p:nvSpPr>
            <p:cNvPr id="13" name="Freeform 1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4" name="TextBox 1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5" name="Group 15"/>
          <p:cNvGrpSpPr/>
          <p:nvPr/>
        </p:nvGrpSpPr>
        <p:grpSpPr>
          <a:xfrm>
            <a:off x="948235" y="3107362"/>
            <a:ext cx="508158" cy="543805"/>
            <a:chOff x="0" y="0"/>
            <a:chExt cx="812800" cy="869819"/>
          </a:xfrm>
        </p:grpSpPr>
        <p:sp>
          <p:nvSpPr>
            <p:cNvPr id="16" name="Freeform 1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7" name="TextBox 1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18" name="Group 18"/>
          <p:cNvGrpSpPr/>
          <p:nvPr/>
        </p:nvGrpSpPr>
        <p:grpSpPr>
          <a:xfrm>
            <a:off x="948235" y="5115753"/>
            <a:ext cx="508158" cy="543805"/>
            <a:chOff x="0" y="0"/>
            <a:chExt cx="812800" cy="869819"/>
          </a:xfrm>
        </p:grpSpPr>
        <p:sp>
          <p:nvSpPr>
            <p:cNvPr id="19" name="Freeform 1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0" name="TextBox 2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1" name="Group 21"/>
          <p:cNvGrpSpPr/>
          <p:nvPr/>
        </p:nvGrpSpPr>
        <p:grpSpPr>
          <a:xfrm>
            <a:off x="948235" y="3776486"/>
            <a:ext cx="508158" cy="543805"/>
            <a:chOff x="0" y="0"/>
            <a:chExt cx="812800" cy="869819"/>
          </a:xfrm>
        </p:grpSpPr>
        <p:sp>
          <p:nvSpPr>
            <p:cNvPr id="22" name="Freeform 2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3" name="TextBox 2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4" name="Group 24"/>
          <p:cNvGrpSpPr/>
          <p:nvPr/>
        </p:nvGrpSpPr>
        <p:grpSpPr>
          <a:xfrm>
            <a:off x="948235" y="6455730"/>
            <a:ext cx="508158" cy="543805"/>
            <a:chOff x="0" y="0"/>
            <a:chExt cx="812800" cy="869819"/>
          </a:xfrm>
        </p:grpSpPr>
        <p:sp>
          <p:nvSpPr>
            <p:cNvPr id="25" name="Freeform 2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6" name="TextBox 2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7" name="Group 27"/>
          <p:cNvGrpSpPr/>
          <p:nvPr/>
        </p:nvGrpSpPr>
        <p:grpSpPr>
          <a:xfrm>
            <a:off x="948235" y="5784877"/>
            <a:ext cx="508158" cy="543805"/>
            <a:chOff x="0" y="0"/>
            <a:chExt cx="812800" cy="869819"/>
          </a:xfrm>
        </p:grpSpPr>
        <p:sp>
          <p:nvSpPr>
            <p:cNvPr id="28" name="Freeform 2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9" name="TextBox 2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dirty="0">
                  <a:solidFill>
                    <a:srgbClr val="191919"/>
                  </a:solidFill>
                  <a:latin typeface="Gotham"/>
                  <a:ea typeface="Gotham"/>
                  <a:cs typeface="Gotham"/>
                  <a:sym typeface="Gotham"/>
                </a:rPr>
                <a:t>6</a:t>
              </a:r>
            </a:p>
          </p:txBody>
        </p:sp>
      </p:grpSp>
      <p:grpSp>
        <p:nvGrpSpPr>
          <p:cNvPr id="36" name="Group 36"/>
          <p:cNvGrpSpPr/>
          <p:nvPr/>
        </p:nvGrpSpPr>
        <p:grpSpPr>
          <a:xfrm>
            <a:off x="948235" y="7123361"/>
            <a:ext cx="508158" cy="543805"/>
            <a:chOff x="0" y="0"/>
            <a:chExt cx="812800" cy="869819"/>
          </a:xfrm>
        </p:grpSpPr>
        <p:sp>
          <p:nvSpPr>
            <p:cNvPr id="37" name="Freeform 3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8" name="TextBox 3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9" name="Group 39"/>
          <p:cNvGrpSpPr/>
          <p:nvPr/>
        </p:nvGrpSpPr>
        <p:grpSpPr>
          <a:xfrm>
            <a:off x="948235" y="7790991"/>
            <a:ext cx="508158" cy="543805"/>
            <a:chOff x="0" y="0"/>
            <a:chExt cx="812800" cy="869819"/>
          </a:xfrm>
        </p:grpSpPr>
        <p:sp>
          <p:nvSpPr>
            <p:cNvPr id="40" name="Freeform 4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1" name="TextBox 4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2" name="TextBox 1">
            <a:extLst>
              <a:ext uri="{FF2B5EF4-FFF2-40B4-BE49-F238E27FC236}">
                <a16:creationId xmlns:a16="http://schemas.microsoft.com/office/drawing/2014/main" id="{DE796552-E8BF-2718-F921-20F9BAE7EE98}"/>
              </a:ext>
            </a:extLst>
          </p:cNvPr>
          <p:cNvSpPr txBox="1"/>
          <p:nvPr/>
        </p:nvSpPr>
        <p:spPr>
          <a:xfrm>
            <a:off x="725461" y="369551"/>
            <a:ext cx="158496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INTRODUCTION</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837E9E58-77B6-079D-9D0D-E380CADAD23D}"/>
              </a:ext>
            </a:extLst>
          </p:cNvPr>
          <p:cNvSpPr txBox="1"/>
          <p:nvPr/>
        </p:nvSpPr>
        <p:spPr>
          <a:xfrm>
            <a:off x="1900107" y="1281896"/>
            <a:ext cx="15082325" cy="14003834"/>
          </a:xfrm>
          <a:prstGeom prst="rect">
            <a:avLst/>
          </a:prstGeom>
          <a:noFill/>
        </p:spPr>
        <p:txBody>
          <a:bodyPr wrap="square" rtlCol="0">
            <a:spAutoFit/>
          </a:bodyPr>
          <a:lstStyle/>
          <a:p>
            <a:r>
              <a:rPr lang="en-US" sz="3200" b="1" dirty="0">
                <a:latin typeface="Times New Roman" panose="02020603050405020304" pitchFamily="18" charset="0"/>
                <a:cs typeface="Times New Roman" panose="02020603050405020304" pitchFamily="18" charset="0"/>
              </a:rPr>
              <a:t>Background of the Problem:</a:t>
            </a:r>
            <a:br>
              <a:rPr lang="en-US" sz="3200" dirty="0">
                <a:latin typeface="Times New Roman" panose="02020603050405020304" pitchFamily="18" charset="0"/>
                <a:cs typeface="Times New Roman" panose="02020603050405020304" pitchFamily="18" charset="0"/>
              </a:rPr>
            </a:br>
            <a:r>
              <a:rPr lang="en-US" sz="3200" dirty="0">
                <a:latin typeface="Times New Roman" panose="02020603050405020304" pitchFamily="18" charset="0"/>
                <a:cs typeface="Times New Roman" panose="02020603050405020304" pitchFamily="18" charset="0"/>
              </a:rPr>
              <a:t>Traditional ticket booking methods are time-consuming and require passengers to visit booking centers directly. Manual booking systems may also cause errors, delays, and inconvenience for users.</a:t>
            </a:r>
          </a:p>
          <a:p>
            <a:r>
              <a:rPr lang="en-US" sz="3200" b="1" dirty="0">
                <a:latin typeface="Times New Roman" panose="02020603050405020304" pitchFamily="18" charset="0"/>
                <a:cs typeface="Times New Roman" panose="02020603050405020304" pitchFamily="18" charset="0"/>
              </a:rPr>
              <a:t>Why this Project is Important:</a:t>
            </a:r>
            <a:br>
              <a:rPr lang="en-US" sz="3200" dirty="0">
                <a:latin typeface="Times New Roman" panose="02020603050405020304" pitchFamily="18" charset="0"/>
                <a:cs typeface="Times New Roman" panose="02020603050405020304" pitchFamily="18" charset="0"/>
              </a:rPr>
            </a:br>
            <a:r>
              <a:rPr lang="en-US" sz="3200" dirty="0">
                <a:latin typeface="Times New Roman" panose="02020603050405020304" pitchFamily="18" charset="0"/>
                <a:cs typeface="Times New Roman" panose="02020603050405020304" pitchFamily="18" charset="0"/>
              </a:rPr>
              <a:t>This project provides an easy and secure way to book travel tickets through an online platform. It reduces manual work and improves the speed and accuracy of ticket management.</a:t>
            </a:r>
          </a:p>
          <a:p>
            <a:r>
              <a:rPr lang="en-US" sz="3200" b="1" dirty="0">
                <a:latin typeface="Times New Roman" panose="02020603050405020304" pitchFamily="18" charset="0"/>
                <a:cs typeface="Times New Roman" panose="02020603050405020304" pitchFamily="18" charset="0"/>
              </a:rPr>
              <a:t>Real-World Relevance:</a:t>
            </a:r>
            <a:br>
              <a:rPr lang="en-US" sz="3200" dirty="0">
                <a:latin typeface="Times New Roman" panose="02020603050405020304" pitchFamily="18" charset="0"/>
                <a:cs typeface="Times New Roman" panose="02020603050405020304" pitchFamily="18" charset="0"/>
              </a:rPr>
            </a:br>
            <a:r>
              <a:rPr lang="en-US" sz="3200" dirty="0">
                <a:latin typeface="Times New Roman" panose="02020603050405020304" pitchFamily="18" charset="0"/>
                <a:cs typeface="Times New Roman" panose="02020603050405020304" pitchFamily="18" charset="0"/>
              </a:rPr>
              <a:t>Online ticket booking systems are widely used in buses, trains, and airline services today. The project supports digital transportation services and improves customer convenience in real-time booking.</a:t>
            </a:r>
          </a:p>
          <a:p>
            <a:r>
              <a:rPr lang="en-US" sz="3200" b="1" dirty="0">
                <a:latin typeface="Times New Roman" panose="02020603050405020304" pitchFamily="18" charset="0"/>
                <a:cs typeface="Times New Roman" panose="02020603050405020304" pitchFamily="18" charset="0"/>
              </a:rPr>
              <a:t>Brief Overview of the System:</a:t>
            </a:r>
            <a:br>
              <a:rPr lang="en-US" sz="3200" dirty="0">
                <a:latin typeface="Times New Roman" panose="02020603050405020304" pitchFamily="18" charset="0"/>
                <a:cs typeface="Times New Roman" panose="02020603050405020304" pitchFamily="18" charset="0"/>
              </a:rPr>
            </a:br>
            <a:r>
              <a:rPr lang="en-US" sz="3200" dirty="0">
                <a:latin typeface="Times New Roman" panose="02020603050405020304" pitchFamily="18" charset="0"/>
                <a:cs typeface="Times New Roman" panose="02020603050405020304" pitchFamily="18" charset="0"/>
              </a:rPr>
              <a:t>The Travel Ticket Booking System allows users to register, search routes, book tickets, and manage cancellations online. It also includes features such as payment processing and travel information management.</a:t>
            </a:r>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grpSp>
        <p:nvGrpSpPr>
          <p:cNvPr id="6" name="Group 37">
            <a:extLst>
              <a:ext uri="{FF2B5EF4-FFF2-40B4-BE49-F238E27FC236}">
                <a16:creationId xmlns:a16="http://schemas.microsoft.com/office/drawing/2014/main" id="{E5F04D9D-308A-3183-6836-B0EC5388A6D1}"/>
              </a:ext>
            </a:extLst>
          </p:cNvPr>
          <p:cNvGrpSpPr/>
          <p:nvPr/>
        </p:nvGrpSpPr>
        <p:grpSpPr>
          <a:xfrm>
            <a:off x="14020800" y="-8142801"/>
            <a:ext cx="10994424" cy="10994424"/>
            <a:chOff x="0" y="0"/>
            <a:chExt cx="812800" cy="812800"/>
          </a:xfrm>
        </p:grpSpPr>
        <p:sp>
          <p:nvSpPr>
            <p:cNvPr id="7" name="Freeform 38">
              <a:extLst>
                <a:ext uri="{FF2B5EF4-FFF2-40B4-BE49-F238E27FC236}">
                  <a16:creationId xmlns:a16="http://schemas.microsoft.com/office/drawing/2014/main" id="{DD6C4498-CEE7-2D27-F0C3-97EBEC11E866}"/>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0" name="TextBox 39">
              <a:extLst>
                <a:ext uri="{FF2B5EF4-FFF2-40B4-BE49-F238E27FC236}">
                  <a16:creationId xmlns:a16="http://schemas.microsoft.com/office/drawing/2014/main" id="{2238B763-36E8-D0F8-087D-09B56E0E974D}"/>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TextBox 46">
            <a:extLst>
              <a:ext uri="{FF2B5EF4-FFF2-40B4-BE49-F238E27FC236}">
                <a16:creationId xmlns:a16="http://schemas.microsoft.com/office/drawing/2014/main" id="{A8A7B8E9-D90B-1CF8-14D3-8D2483CAFC58}"/>
              </a:ext>
            </a:extLst>
          </p:cNvPr>
          <p:cNvSpPr txBox="1"/>
          <p:nvPr/>
        </p:nvSpPr>
        <p:spPr>
          <a:xfrm>
            <a:off x="-13741" y="731103"/>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PROBLEM STATEMENT</a:t>
            </a:r>
            <a:endParaRPr lang="en-IN" sz="4800" b="1" dirty="0">
              <a:solidFill>
                <a:srgbClr val="0033CC"/>
              </a:solidFill>
              <a:latin typeface="Times New Roman" panose="02020603050405020304" pitchFamily="18" charset="0"/>
              <a:cs typeface="Times New Roman" panose="02020603050405020304" pitchFamily="18" charset="0"/>
            </a:endParaRPr>
          </a:p>
        </p:txBody>
      </p:sp>
      <p:grpSp>
        <p:nvGrpSpPr>
          <p:cNvPr id="11" name="Group 11"/>
          <p:cNvGrpSpPr/>
          <p:nvPr/>
        </p:nvGrpSpPr>
        <p:grpSpPr>
          <a:xfrm>
            <a:off x="709357" y="2648112"/>
            <a:ext cx="992463" cy="992463"/>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3" name="TextBox 13"/>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2</a:t>
              </a:r>
            </a:p>
          </p:txBody>
        </p:sp>
      </p:grpSp>
      <p:grpSp>
        <p:nvGrpSpPr>
          <p:cNvPr id="14" name="Group 14"/>
          <p:cNvGrpSpPr/>
          <p:nvPr/>
        </p:nvGrpSpPr>
        <p:grpSpPr>
          <a:xfrm>
            <a:off x="951509" y="4428296"/>
            <a:ext cx="508158" cy="543805"/>
            <a:chOff x="0" y="0"/>
            <a:chExt cx="812800" cy="869819"/>
          </a:xfrm>
        </p:grpSpPr>
        <p:sp>
          <p:nvSpPr>
            <p:cNvPr id="15" name="Freeform 1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6" name="TextBox 1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p:cNvGrpSpPr/>
          <p:nvPr/>
        </p:nvGrpSpPr>
        <p:grpSpPr>
          <a:xfrm>
            <a:off x="951509" y="1982349"/>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0" name="Group 20"/>
          <p:cNvGrpSpPr/>
          <p:nvPr/>
        </p:nvGrpSpPr>
        <p:grpSpPr>
          <a:xfrm>
            <a:off x="951509" y="5094059"/>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3" name="Group 23"/>
          <p:cNvGrpSpPr/>
          <p:nvPr/>
        </p:nvGrpSpPr>
        <p:grpSpPr>
          <a:xfrm>
            <a:off x="951509" y="3762533"/>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6" name="Group 26"/>
          <p:cNvGrpSpPr/>
          <p:nvPr/>
        </p:nvGrpSpPr>
        <p:grpSpPr>
          <a:xfrm>
            <a:off x="951509" y="6425585"/>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9" name="Group 29"/>
          <p:cNvGrpSpPr/>
          <p:nvPr/>
        </p:nvGrpSpPr>
        <p:grpSpPr>
          <a:xfrm>
            <a:off x="951509" y="5759822"/>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6" name="Group 36"/>
          <p:cNvGrpSpPr/>
          <p:nvPr/>
        </p:nvGrpSpPr>
        <p:grpSpPr>
          <a:xfrm>
            <a:off x="951509" y="7093216"/>
            <a:ext cx="508158" cy="543805"/>
            <a:chOff x="0" y="0"/>
            <a:chExt cx="812800" cy="869819"/>
          </a:xfrm>
        </p:grpSpPr>
        <p:sp>
          <p:nvSpPr>
            <p:cNvPr id="37" name="Freeform 3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8" name="TextBox 3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9" name="Group 39"/>
          <p:cNvGrpSpPr/>
          <p:nvPr/>
        </p:nvGrpSpPr>
        <p:grpSpPr>
          <a:xfrm>
            <a:off x="951509" y="7760846"/>
            <a:ext cx="508158" cy="543805"/>
            <a:chOff x="0" y="0"/>
            <a:chExt cx="812800" cy="869819"/>
          </a:xfrm>
        </p:grpSpPr>
        <p:sp>
          <p:nvSpPr>
            <p:cNvPr id="40" name="Freeform 4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1" name="TextBox 4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8" name="TextBox 47">
            <a:extLst>
              <a:ext uri="{FF2B5EF4-FFF2-40B4-BE49-F238E27FC236}">
                <a16:creationId xmlns:a16="http://schemas.microsoft.com/office/drawing/2014/main" id="{BDE2941C-1504-53F9-99B2-48002CA9A345}"/>
              </a:ext>
            </a:extLst>
          </p:cNvPr>
          <p:cNvSpPr txBox="1"/>
          <p:nvPr/>
        </p:nvSpPr>
        <p:spPr>
          <a:xfrm>
            <a:off x="2206526" y="2015465"/>
            <a:ext cx="15082325" cy="12218730"/>
          </a:xfrm>
          <a:prstGeom prst="rect">
            <a:avLst/>
          </a:prstGeom>
          <a:noFill/>
        </p:spPr>
        <p:txBody>
          <a:bodyPr wrap="square" rtlCol="0">
            <a:spAutoFit/>
          </a:bodyPr>
          <a:lstStyle/>
          <a:p>
            <a:pPr algn="just"/>
            <a:r>
              <a:rPr lang="en-US" sz="3600" dirty="0">
                <a:latin typeface="Times New Roman" panose="02020603050405020304" pitchFamily="18" charset="0"/>
                <a:cs typeface="Times New Roman" panose="02020603050405020304" pitchFamily="18" charset="0"/>
              </a:rPr>
              <a:t>The existing travel ticket booking process in many places still depends on manual methods and separate booking platforms, which can cause delays and inconvenience for passengers. Users often face difficulties in checking ticket availability, comparing routes, and managing bookings efficiently. Manual handling of ticket reservations may also lead to errors, data redundancy, and poor record management. There is a need for a reliable and automated Travel Ticket Booking System that simplifies ticket reservation, improves accuracy, and provides quick access to travel information. The system should support easy booking, cancellation, and payment processes through a user-friendly interface. This project aims to enhance efficiency, reduce manual effort, and provide better service for both passengers and transport providers</a:t>
            </a:r>
            <a:r>
              <a:rPr lang="en-US" sz="2800" dirty="0"/>
              <a:t>.</a:t>
            </a:r>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grpSp>
        <p:nvGrpSpPr>
          <p:cNvPr id="3" name="Group 37">
            <a:extLst>
              <a:ext uri="{FF2B5EF4-FFF2-40B4-BE49-F238E27FC236}">
                <a16:creationId xmlns:a16="http://schemas.microsoft.com/office/drawing/2014/main" id="{2FF1B020-E599-4243-0745-94658C4B75D2}"/>
              </a:ext>
            </a:extLst>
          </p:cNvPr>
          <p:cNvGrpSpPr/>
          <p:nvPr/>
        </p:nvGrpSpPr>
        <p:grpSpPr>
          <a:xfrm>
            <a:off x="14020800" y="-8142801"/>
            <a:ext cx="10994424" cy="10994424"/>
            <a:chOff x="0" y="0"/>
            <a:chExt cx="812800" cy="812800"/>
          </a:xfrm>
        </p:grpSpPr>
        <p:sp>
          <p:nvSpPr>
            <p:cNvPr id="4" name="Freeform 38">
              <a:extLst>
                <a:ext uri="{FF2B5EF4-FFF2-40B4-BE49-F238E27FC236}">
                  <a16:creationId xmlns:a16="http://schemas.microsoft.com/office/drawing/2014/main" id="{8D5722D6-1AB3-AFC3-50FD-97E032A64A83}"/>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5" name="TextBox 39">
              <a:extLst>
                <a:ext uri="{FF2B5EF4-FFF2-40B4-BE49-F238E27FC236}">
                  <a16:creationId xmlns:a16="http://schemas.microsoft.com/office/drawing/2014/main" id="{8C494B58-803A-A1A0-E7D1-2C6625F9E9EF}"/>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oup 7"/>
          <p:cNvGrpSpPr/>
          <p:nvPr/>
        </p:nvGrpSpPr>
        <p:grpSpPr>
          <a:xfrm>
            <a:off x="709357" y="3315742"/>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3</a:t>
              </a:r>
            </a:p>
          </p:txBody>
        </p:sp>
      </p:grpSp>
      <p:grpSp>
        <p:nvGrpSpPr>
          <p:cNvPr id="10" name="Group 10"/>
          <p:cNvGrpSpPr/>
          <p:nvPr/>
        </p:nvGrpSpPr>
        <p:grpSpPr>
          <a:xfrm>
            <a:off x="951509" y="4428296"/>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3" name="Group 13"/>
          <p:cNvGrpSpPr/>
          <p:nvPr/>
        </p:nvGrpSpPr>
        <p:grpSpPr>
          <a:xfrm>
            <a:off x="951509"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p:cNvGrpSpPr/>
          <p:nvPr/>
        </p:nvGrpSpPr>
        <p:grpSpPr>
          <a:xfrm>
            <a:off x="951509" y="5094059"/>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19" name="Group 19"/>
          <p:cNvGrpSpPr/>
          <p:nvPr/>
        </p:nvGrpSpPr>
        <p:grpSpPr>
          <a:xfrm>
            <a:off x="951509"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p:cNvGrpSpPr/>
          <p:nvPr/>
        </p:nvGrpSpPr>
        <p:grpSpPr>
          <a:xfrm>
            <a:off x="951509" y="6425585"/>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5" name="Group 25"/>
          <p:cNvGrpSpPr/>
          <p:nvPr/>
        </p:nvGrpSpPr>
        <p:grpSpPr>
          <a:xfrm>
            <a:off x="951509" y="5759822"/>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41" name="Group 41"/>
          <p:cNvGrpSpPr/>
          <p:nvPr/>
        </p:nvGrpSpPr>
        <p:grpSpPr>
          <a:xfrm>
            <a:off x="951509" y="7093216"/>
            <a:ext cx="508158" cy="543805"/>
            <a:chOff x="0" y="0"/>
            <a:chExt cx="812800" cy="869819"/>
          </a:xfrm>
        </p:grpSpPr>
        <p:sp>
          <p:nvSpPr>
            <p:cNvPr id="42" name="Freeform 4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3" name="TextBox 4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4" name="Group 44"/>
          <p:cNvGrpSpPr/>
          <p:nvPr/>
        </p:nvGrpSpPr>
        <p:grpSpPr>
          <a:xfrm>
            <a:off x="951509" y="7760846"/>
            <a:ext cx="508158" cy="543805"/>
            <a:chOff x="0" y="0"/>
            <a:chExt cx="812800" cy="869819"/>
          </a:xfrm>
        </p:grpSpPr>
        <p:sp>
          <p:nvSpPr>
            <p:cNvPr id="45" name="Freeform 4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6" name="TextBox 4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50" name="TextBox 49">
            <a:extLst>
              <a:ext uri="{FF2B5EF4-FFF2-40B4-BE49-F238E27FC236}">
                <a16:creationId xmlns:a16="http://schemas.microsoft.com/office/drawing/2014/main" id="{5B915D36-EE4F-CB45-6DD3-E1B9C803EB40}"/>
              </a:ext>
            </a:extLst>
          </p:cNvPr>
          <p:cNvSpPr txBox="1"/>
          <p:nvPr/>
        </p:nvSpPr>
        <p:spPr>
          <a:xfrm>
            <a:off x="190500" y="689556"/>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OBJECTIVE(S)</a:t>
            </a:r>
            <a:endParaRPr lang="en-IN" sz="4800" b="1" dirty="0">
              <a:solidFill>
                <a:srgbClr val="0033CC"/>
              </a:solidFill>
              <a:latin typeface="Times New Roman" panose="02020603050405020304" pitchFamily="18" charset="0"/>
              <a:cs typeface="Times New Roman" panose="02020603050405020304" pitchFamily="18" charset="0"/>
            </a:endParaRPr>
          </a:p>
        </p:txBody>
      </p:sp>
      <p:grpSp>
        <p:nvGrpSpPr>
          <p:cNvPr id="3" name="Group 37">
            <a:extLst>
              <a:ext uri="{FF2B5EF4-FFF2-40B4-BE49-F238E27FC236}">
                <a16:creationId xmlns:a16="http://schemas.microsoft.com/office/drawing/2014/main" id="{CF58B49F-CF64-89F9-D6CB-EEBCFCA5C762}"/>
              </a:ext>
            </a:extLst>
          </p:cNvPr>
          <p:cNvGrpSpPr/>
          <p:nvPr/>
        </p:nvGrpSpPr>
        <p:grpSpPr>
          <a:xfrm>
            <a:off x="14020800" y="-8142801"/>
            <a:ext cx="10994424" cy="10994424"/>
            <a:chOff x="0" y="0"/>
            <a:chExt cx="812800" cy="812800"/>
          </a:xfrm>
        </p:grpSpPr>
        <p:sp>
          <p:nvSpPr>
            <p:cNvPr id="4" name="Freeform 38">
              <a:extLst>
                <a:ext uri="{FF2B5EF4-FFF2-40B4-BE49-F238E27FC236}">
                  <a16:creationId xmlns:a16="http://schemas.microsoft.com/office/drawing/2014/main" id="{BFE0BB44-45F2-A4A6-9B89-0E8576D6182D}"/>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5" name="TextBox 39">
              <a:extLst>
                <a:ext uri="{FF2B5EF4-FFF2-40B4-BE49-F238E27FC236}">
                  <a16:creationId xmlns:a16="http://schemas.microsoft.com/office/drawing/2014/main" id="{B7E50780-1EA1-5613-9DE5-1713C4D8E91F}"/>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6" name="TextBox 5">
            <a:extLst>
              <a:ext uri="{FF2B5EF4-FFF2-40B4-BE49-F238E27FC236}">
                <a16:creationId xmlns:a16="http://schemas.microsoft.com/office/drawing/2014/main" id="{9C6502AF-CCC8-31E6-FA60-391BF4CC2DF4}"/>
              </a:ext>
            </a:extLst>
          </p:cNvPr>
          <p:cNvSpPr txBox="1"/>
          <p:nvPr/>
        </p:nvSpPr>
        <p:spPr>
          <a:xfrm rot="10800000">
            <a:off x="3502679" y="12025025"/>
            <a:ext cx="14297605" cy="6986528"/>
          </a:xfrm>
          <a:prstGeom prst="rect">
            <a:avLst/>
          </a:prstGeom>
          <a:noFill/>
        </p:spPr>
        <p:txBody>
          <a:bodyPr wrap="square" rtlCol="0">
            <a:spAutoFit/>
          </a:bodyPr>
          <a:lstStyle/>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
        <p:nvSpPr>
          <p:cNvPr id="2" name="Rectangle 1">
            <a:extLst>
              <a:ext uri="{FF2B5EF4-FFF2-40B4-BE49-F238E27FC236}">
                <a16:creationId xmlns:a16="http://schemas.microsoft.com/office/drawing/2014/main" id="{171C3067-674E-4A50-B5CF-D639CF3EDE1B}"/>
              </a:ext>
            </a:extLst>
          </p:cNvPr>
          <p:cNvSpPr>
            <a:spLocks noChangeArrowheads="1"/>
          </p:cNvSpPr>
          <p:nvPr/>
        </p:nvSpPr>
        <p:spPr bwMode="auto">
          <a:xfrm rot="10800000" flipV="1">
            <a:off x="1777374" y="2114505"/>
            <a:ext cx="15316368" cy="59093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3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develop an online Travel Ticket Booking System for easy and fast ticket reservation. </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3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provide users with features such as route search, ticket booking, cancellation, and payment processing. </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3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reduce manual work and improve the efficiency and accuracy of ticket management. </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3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maintain passenger and travel details securely in a centralized database system. </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3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create a user-friendly interface that improves customer convenience and accessibility</a:t>
            </a:r>
            <a:r>
              <a:rPr kumimoji="0" lang="en-US" altLang="en-US" sz="1800" b="0" i="0" u="none" strike="noStrike" cap="none" normalizeH="0" baseline="0" dirty="0">
                <a:ln>
                  <a:noFill/>
                </a:ln>
                <a:solidFill>
                  <a:schemeClr val="tx1"/>
                </a:solidFill>
                <a:effectLst/>
                <a:latin typeface="Arial" panose="020B0604020202020204" pitchFamily="34" charset="0"/>
              </a:rPr>
              <a:t>. </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 name="TextBox 47">
            <a:extLst>
              <a:ext uri="{FF2B5EF4-FFF2-40B4-BE49-F238E27FC236}">
                <a16:creationId xmlns:a16="http://schemas.microsoft.com/office/drawing/2014/main" id="{E8F19716-1653-9AE0-442E-B3829A585B46}"/>
              </a:ext>
            </a:extLst>
          </p:cNvPr>
          <p:cNvSpPr txBox="1"/>
          <p:nvPr/>
        </p:nvSpPr>
        <p:spPr>
          <a:xfrm rot="10800000">
            <a:off x="3964592" y="9959077"/>
            <a:ext cx="14893796" cy="5262979"/>
          </a:xfrm>
          <a:prstGeom prst="rect">
            <a:avLst/>
          </a:prstGeom>
          <a:noFill/>
        </p:spPr>
        <p:txBody>
          <a:bodyPr wrap="square" rtlCol="0">
            <a:spAutoFit/>
          </a:bodyPr>
          <a:lstStyle/>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grpSp>
        <p:nvGrpSpPr>
          <p:cNvPr id="13" name="Group 13"/>
          <p:cNvGrpSpPr/>
          <p:nvPr/>
        </p:nvGrpSpPr>
        <p:grpSpPr>
          <a:xfrm>
            <a:off x="709357" y="3983373"/>
            <a:ext cx="992463" cy="992463"/>
            <a:chOff x="0" y="0"/>
            <a:chExt cx="812800" cy="812800"/>
          </a:xfrm>
        </p:grpSpPr>
        <p:sp>
          <p:nvSpPr>
            <p:cNvPr id="14" name="Freeform 1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5" name="TextBox 15"/>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4</a:t>
              </a:r>
            </a:p>
          </p:txBody>
        </p:sp>
      </p:grpSp>
      <p:grpSp>
        <p:nvGrpSpPr>
          <p:cNvPr id="16" name="Group 16"/>
          <p:cNvGrpSpPr/>
          <p:nvPr/>
        </p:nvGrpSpPr>
        <p:grpSpPr>
          <a:xfrm>
            <a:off x="951509" y="3315742"/>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9" name="Group 19"/>
          <p:cNvGrpSpPr/>
          <p:nvPr/>
        </p:nvGrpSpPr>
        <p:grpSpPr>
          <a:xfrm>
            <a:off x="951509" y="1982349"/>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2" name="Group 22"/>
          <p:cNvGrpSpPr/>
          <p:nvPr/>
        </p:nvGrpSpPr>
        <p:grpSpPr>
          <a:xfrm>
            <a:off x="951509" y="5094059"/>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5" name="Group 25"/>
          <p:cNvGrpSpPr/>
          <p:nvPr/>
        </p:nvGrpSpPr>
        <p:grpSpPr>
          <a:xfrm>
            <a:off x="951509" y="2648112"/>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8" name="Group 28"/>
          <p:cNvGrpSpPr/>
          <p:nvPr/>
        </p:nvGrpSpPr>
        <p:grpSpPr>
          <a:xfrm>
            <a:off x="951509" y="6425585"/>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p:cNvGrpSpPr/>
          <p:nvPr/>
        </p:nvGrpSpPr>
        <p:grpSpPr>
          <a:xfrm>
            <a:off x="951509" y="5759822"/>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4" name="Group 34"/>
          <p:cNvGrpSpPr/>
          <p:nvPr/>
        </p:nvGrpSpPr>
        <p:grpSpPr>
          <a:xfrm>
            <a:off x="951509" y="7093216"/>
            <a:ext cx="508158" cy="543805"/>
            <a:chOff x="0" y="0"/>
            <a:chExt cx="812800" cy="869819"/>
          </a:xfrm>
        </p:grpSpPr>
        <p:sp>
          <p:nvSpPr>
            <p:cNvPr id="35" name="Freeform 3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6" name="TextBox 3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7" name="Group 37"/>
          <p:cNvGrpSpPr/>
          <p:nvPr/>
        </p:nvGrpSpPr>
        <p:grpSpPr>
          <a:xfrm>
            <a:off x="951509" y="7760846"/>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6" name="TextBox 45">
            <a:extLst>
              <a:ext uri="{FF2B5EF4-FFF2-40B4-BE49-F238E27FC236}">
                <a16:creationId xmlns:a16="http://schemas.microsoft.com/office/drawing/2014/main" id="{E7218D14-8F44-8040-8BFD-49A59591F527}"/>
              </a:ext>
            </a:extLst>
          </p:cNvPr>
          <p:cNvSpPr txBox="1"/>
          <p:nvPr/>
        </p:nvSpPr>
        <p:spPr>
          <a:xfrm>
            <a:off x="25879" y="400481"/>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PROPOSED SYSTEM</a:t>
            </a:r>
            <a:endParaRPr lang="en-IN" sz="4800" b="1" dirty="0">
              <a:solidFill>
                <a:srgbClr val="0033CC"/>
              </a:solidFill>
              <a:latin typeface="Times New Roman" panose="02020603050405020304" pitchFamily="18" charset="0"/>
              <a:cs typeface="Times New Roman" panose="02020603050405020304" pitchFamily="18" charset="0"/>
            </a:endParaRPr>
          </a:p>
        </p:txBody>
      </p:sp>
      <p:grpSp>
        <p:nvGrpSpPr>
          <p:cNvPr id="2" name="Group 37">
            <a:extLst>
              <a:ext uri="{FF2B5EF4-FFF2-40B4-BE49-F238E27FC236}">
                <a16:creationId xmlns:a16="http://schemas.microsoft.com/office/drawing/2014/main" id="{4F283DDE-1616-62AE-4C34-D40B631B4EC7}"/>
              </a:ext>
            </a:extLst>
          </p:cNvPr>
          <p:cNvGrpSpPr/>
          <p:nvPr/>
        </p:nvGrpSpPr>
        <p:grpSpPr>
          <a:xfrm>
            <a:off x="14020800" y="-8142801"/>
            <a:ext cx="10994424" cy="10994424"/>
            <a:chOff x="0" y="0"/>
            <a:chExt cx="812800" cy="812800"/>
          </a:xfrm>
        </p:grpSpPr>
        <p:sp>
          <p:nvSpPr>
            <p:cNvPr id="3" name="Freeform 38">
              <a:extLst>
                <a:ext uri="{FF2B5EF4-FFF2-40B4-BE49-F238E27FC236}">
                  <a16:creationId xmlns:a16="http://schemas.microsoft.com/office/drawing/2014/main" id="{1277AC33-DE92-DEAD-3684-F9E584FE7CE6}"/>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4" name="TextBox 39">
              <a:extLst>
                <a:ext uri="{FF2B5EF4-FFF2-40B4-BE49-F238E27FC236}">
                  <a16:creationId xmlns:a16="http://schemas.microsoft.com/office/drawing/2014/main" id="{56B25065-0B92-DE42-94C2-2ECB8CBB349C}"/>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5" name="Rectangle 1">
            <a:extLst>
              <a:ext uri="{FF2B5EF4-FFF2-40B4-BE49-F238E27FC236}">
                <a16:creationId xmlns:a16="http://schemas.microsoft.com/office/drawing/2014/main" id="{01EFB775-AB29-44D6-A2B7-A4F5B705CDA3}"/>
              </a:ext>
            </a:extLst>
          </p:cNvPr>
          <p:cNvSpPr>
            <a:spLocks noChangeArrowheads="1"/>
          </p:cNvSpPr>
          <p:nvPr/>
        </p:nvSpPr>
        <p:spPr bwMode="auto">
          <a:xfrm rot="10800000" flipV="1">
            <a:off x="1849727" y="1172381"/>
            <a:ext cx="15100089" cy="77559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3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proposed Travel Ticket Booking System provides an online platform for searching, booking, and cancelling travel tickets easily. </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3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It automates ticket management processes, reducing manual work and minimizing human errors. </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3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Users can check seat availability, travel schedules, and fare details in real time. </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3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system offers secure user authentication and safe payment processing for reliable transactions. </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3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It stores passenger and booking information in a centralized database for easy management and quick access. </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3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solution improves booking speed and provides convenience by allowing users to access services anytime and anywhere. </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3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Compared to traditional systems, it reduces paperwork, waiting time, and operational complexity. </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3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system enhances accuracy, efficiency, and customer satisfaction through a simple and user-friendly interface</a:t>
            </a:r>
            <a:r>
              <a:rPr kumimoji="0" lang="en-US" altLang="en-US" sz="3200" b="0" i="0" u="none" strike="noStrike" cap="none" normalizeH="0" baseline="0" dirty="0">
                <a:ln>
                  <a:noFill/>
                </a:ln>
                <a:solidFill>
                  <a:schemeClr val="tx1"/>
                </a:solidFill>
                <a:effectLst/>
                <a:latin typeface="Arial" panose="020B0604020202020204" pitchFamily="34" charset="0"/>
              </a:rPr>
              <a:t>. </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5"/>
          <p:cNvGrpSpPr/>
          <p:nvPr/>
        </p:nvGrpSpPr>
        <p:grpSpPr>
          <a:xfrm>
            <a:off x="709357" y="4655766"/>
            <a:ext cx="992463" cy="992463"/>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7" name="TextBox 7"/>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5</a:t>
              </a:r>
            </a:p>
          </p:txBody>
        </p:sp>
      </p:grpSp>
      <p:grpSp>
        <p:nvGrpSpPr>
          <p:cNvPr id="8" name="Group 8"/>
          <p:cNvGrpSpPr/>
          <p:nvPr/>
        </p:nvGrpSpPr>
        <p:grpSpPr>
          <a:xfrm>
            <a:off x="951509" y="3320505"/>
            <a:ext cx="508158" cy="543805"/>
            <a:chOff x="0" y="0"/>
            <a:chExt cx="812800" cy="869819"/>
          </a:xfrm>
        </p:grpSpPr>
        <p:sp>
          <p:nvSpPr>
            <p:cNvPr id="9" name="Freeform 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0" name="TextBox 1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1" name="Group 11"/>
          <p:cNvGrpSpPr/>
          <p:nvPr/>
        </p:nvGrpSpPr>
        <p:grpSpPr>
          <a:xfrm>
            <a:off x="951509" y="1987111"/>
            <a:ext cx="508158" cy="543805"/>
            <a:chOff x="0" y="0"/>
            <a:chExt cx="812800" cy="869819"/>
          </a:xfrm>
        </p:grpSpPr>
        <p:sp>
          <p:nvSpPr>
            <p:cNvPr id="12" name="Freeform 1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3" name="TextBox 1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4" name="Group 14"/>
          <p:cNvGrpSpPr/>
          <p:nvPr/>
        </p:nvGrpSpPr>
        <p:grpSpPr>
          <a:xfrm>
            <a:off x="951509" y="3988135"/>
            <a:ext cx="508158" cy="543805"/>
            <a:chOff x="0" y="0"/>
            <a:chExt cx="812800" cy="869819"/>
          </a:xfrm>
        </p:grpSpPr>
        <p:sp>
          <p:nvSpPr>
            <p:cNvPr id="15" name="Freeform 1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6" name="TextBox 1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p:cNvGrpSpPr/>
          <p:nvPr/>
        </p:nvGrpSpPr>
        <p:grpSpPr>
          <a:xfrm>
            <a:off x="951509" y="2652874"/>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0" name="Group 20"/>
          <p:cNvGrpSpPr/>
          <p:nvPr/>
        </p:nvGrpSpPr>
        <p:grpSpPr>
          <a:xfrm>
            <a:off x="951509" y="6430348"/>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3" name="Group 23"/>
          <p:cNvGrpSpPr/>
          <p:nvPr/>
        </p:nvGrpSpPr>
        <p:grpSpPr>
          <a:xfrm>
            <a:off x="951509" y="5764584"/>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6" name="Group 26"/>
          <p:cNvGrpSpPr/>
          <p:nvPr/>
        </p:nvGrpSpPr>
        <p:grpSpPr>
          <a:xfrm>
            <a:off x="951509" y="7088453"/>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29" name="Group 29"/>
          <p:cNvGrpSpPr/>
          <p:nvPr/>
        </p:nvGrpSpPr>
        <p:grpSpPr>
          <a:xfrm>
            <a:off x="951509" y="7756083"/>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grpSp>
        <p:nvGrpSpPr>
          <p:cNvPr id="37" name="Group 37"/>
          <p:cNvGrpSpPr/>
          <p:nvPr/>
        </p:nvGrpSpPr>
        <p:grpSpPr>
          <a:xfrm>
            <a:off x="11762088" y="-9632634"/>
            <a:ext cx="10994424" cy="10994424"/>
            <a:chOff x="0" y="0"/>
            <a:chExt cx="812800" cy="812800"/>
          </a:xfrm>
        </p:grpSpPr>
        <p:sp>
          <p:nvSpPr>
            <p:cNvPr id="38" name="Freeform 3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9" name="TextBox 39"/>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2" name="TextBox 41">
            <a:extLst>
              <a:ext uri="{FF2B5EF4-FFF2-40B4-BE49-F238E27FC236}">
                <a16:creationId xmlns:a16="http://schemas.microsoft.com/office/drawing/2014/main" id="{A4B3B85F-0C7B-16B9-6D50-94A4DFD2D192}"/>
              </a:ext>
            </a:extLst>
          </p:cNvPr>
          <p:cNvSpPr txBox="1"/>
          <p:nvPr/>
        </p:nvSpPr>
        <p:spPr>
          <a:xfrm>
            <a:off x="0" y="486639"/>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PROPOSED SYSTEM ARCHITECTURE</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3" name="TextBox 42">
            <a:extLst>
              <a:ext uri="{FF2B5EF4-FFF2-40B4-BE49-F238E27FC236}">
                <a16:creationId xmlns:a16="http://schemas.microsoft.com/office/drawing/2014/main" id="{25F9D4B0-38FE-DBA4-164D-1745B68379A5}"/>
              </a:ext>
            </a:extLst>
          </p:cNvPr>
          <p:cNvSpPr txBox="1"/>
          <p:nvPr/>
        </p:nvSpPr>
        <p:spPr>
          <a:xfrm>
            <a:off x="2209800" y="1638300"/>
            <a:ext cx="15082325" cy="5262979"/>
          </a:xfrm>
          <a:prstGeom prst="rect">
            <a:avLst/>
          </a:prstGeom>
          <a:noFill/>
        </p:spPr>
        <p:txBody>
          <a:bodyPr wrap="square" rtlCol="0">
            <a:spAutoFit/>
          </a:bodyPr>
          <a:lstStyle/>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3" name="Picture 2">
            <a:extLst>
              <a:ext uri="{FF2B5EF4-FFF2-40B4-BE49-F238E27FC236}">
                <a16:creationId xmlns:a16="http://schemas.microsoft.com/office/drawing/2014/main" id="{D0765F46-4C23-1B3A-DB01-ACCB1A3FB337}"/>
              </a:ext>
            </a:extLst>
          </p:cNvPr>
          <p:cNvPicPr>
            <a:picLocks noChangeAspect="1"/>
          </p:cNvPicPr>
          <p:nvPr/>
        </p:nvPicPr>
        <p:blipFill>
          <a:blip r:embed="rId2"/>
          <a:stretch>
            <a:fillRect/>
          </a:stretch>
        </p:blipFill>
        <p:spPr>
          <a:xfrm>
            <a:off x="2358909" y="1790700"/>
            <a:ext cx="13719292" cy="73914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349807B-F3AA-EE39-F2E3-0E8E0178E635}"/>
              </a:ext>
            </a:extLst>
          </p:cNvPr>
          <p:cNvSpPr txBox="1"/>
          <p:nvPr/>
        </p:nvSpPr>
        <p:spPr>
          <a:xfrm>
            <a:off x="990600" y="1104900"/>
            <a:ext cx="15925800" cy="8402300"/>
          </a:xfrm>
          <a:prstGeom prst="rect">
            <a:avLst/>
          </a:prstGeom>
          <a:noFill/>
        </p:spPr>
        <p:txBody>
          <a:bodyPr wrap="square" rtlCol="0">
            <a:spAutoFit/>
          </a:bodyPr>
          <a:lstStyle/>
          <a:p>
            <a:pPr algn="just"/>
            <a:r>
              <a:rPr lang="en-US" sz="3600" b="1" dirty="0">
                <a:latin typeface="Times New Roman" panose="02020603050405020304" pitchFamily="18" charset="0"/>
                <a:cs typeface="Times New Roman" panose="02020603050405020304" pitchFamily="18" charset="0"/>
              </a:rPr>
              <a:t>Input</a:t>
            </a:r>
          </a:p>
          <a:p>
            <a:pPr marL="571500" indent="-571500" algn="just">
              <a:buFont typeface="Arial" panose="020B0604020202020204" pitchFamily="34" charset="0"/>
              <a:buChar char="•"/>
            </a:pPr>
            <a:r>
              <a:rPr lang="en-US" sz="3600" dirty="0">
                <a:latin typeface="Times New Roman" panose="02020603050405020304" pitchFamily="18" charset="0"/>
                <a:cs typeface="Times New Roman" panose="02020603050405020304" pitchFamily="18" charset="0"/>
              </a:rPr>
              <a:t>User enters details like source, destination, date, and login credentials. </a:t>
            </a:r>
          </a:p>
          <a:p>
            <a:pPr marL="571500" indent="-571500" algn="just">
              <a:buFont typeface="Arial" panose="020B0604020202020204" pitchFamily="34" charset="0"/>
              <a:buChar char="•"/>
            </a:pPr>
            <a:r>
              <a:rPr lang="en-US" sz="3600" dirty="0">
                <a:latin typeface="Times New Roman" panose="02020603050405020304" pitchFamily="18" charset="0"/>
                <a:cs typeface="Times New Roman" panose="02020603050405020304" pitchFamily="18" charset="0"/>
              </a:rPr>
              <a:t>User provides booking inputs such as seat selection and payment information. </a:t>
            </a:r>
          </a:p>
          <a:p>
            <a:pPr algn="just"/>
            <a:br>
              <a:rPr lang="en-US" sz="3600" dirty="0">
                <a:latin typeface="Times New Roman" panose="02020603050405020304" pitchFamily="18" charset="0"/>
                <a:cs typeface="Times New Roman" panose="02020603050405020304" pitchFamily="18" charset="0"/>
              </a:rPr>
            </a:br>
            <a:r>
              <a:rPr lang="en-US" sz="3600" b="1" dirty="0">
                <a:latin typeface="Times New Roman" panose="02020603050405020304" pitchFamily="18" charset="0"/>
                <a:cs typeface="Times New Roman" panose="02020603050405020304" pitchFamily="18" charset="0"/>
              </a:rPr>
              <a:t> Processing</a:t>
            </a:r>
          </a:p>
          <a:p>
            <a:pPr marL="571500" indent="-571500" algn="just">
              <a:buFont typeface="Arial" panose="020B0604020202020204" pitchFamily="34" charset="0"/>
              <a:buChar char="•"/>
            </a:pPr>
            <a:r>
              <a:rPr lang="en-US" sz="3600" dirty="0">
                <a:latin typeface="Times New Roman" panose="02020603050405020304" pitchFamily="18" charset="0"/>
                <a:cs typeface="Times New Roman" panose="02020603050405020304" pitchFamily="18" charset="0"/>
              </a:rPr>
              <a:t>System validates user data, searches travel options, and checks seat availability. </a:t>
            </a:r>
          </a:p>
          <a:p>
            <a:pPr marL="571500" indent="-571500" algn="just">
              <a:buFont typeface="Arial" panose="020B0604020202020204" pitchFamily="34" charset="0"/>
              <a:buChar char="•"/>
            </a:pPr>
            <a:r>
              <a:rPr lang="en-US" sz="3600" dirty="0">
                <a:latin typeface="Times New Roman" panose="02020603050405020304" pitchFamily="18" charset="0"/>
                <a:cs typeface="Times New Roman" panose="02020603050405020304" pitchFamily="18" charset="0"/>
              </a:rPr>
              <a:t>System performs booking, processes payment, and generates e-ticket. </a:t>
            </a:r>
          </a:p>
          <a:p>
            <a:pPr algn="just"/>
            <a:br>
              <a:rPr lang="en-US" sz="3600" dirty="0">
                <a:latin typeface="Times New Roman" panose="02020603050405020304" pitchFamily="18" charset="0"/>
                <a:cs typeface="Times New Roman" panose="02020603050405020304" pitchFamily="18" charset="0"/>
              </a:rPr>
            </a:br>
            <a:r>
              <a:rPr lang="en-US" sz="3600" b="1" dirty="0">
                <a:latin typeface="Times New Roman" panose="02020603050405020304" pitchFamily="18" charset="0"/>
                <a:cs typeface="Times New Roman" panose="02020603050405020304" pitchFamily="18" charset="0"/>
              </a:rPr>
              <a:t>Database</a:t>
            </a:r>
          </a:p>
          <a:p>
            <a:pPr marL="571500" indent="-571500" algn="just">
              <a:buFont typeface="Arial" panose="020B0604020202020204" pitchFamily="34" charset="0"/>
              <a:buChar char="•"/>
            </a:pPr>
            <a:r>
              <a:rPr lang="en-US" sz="3600" dirty="0">
                <a:latin typeface="Times New Roman" panose="02020603050405020304" pitchFamily="18" charset="0"/>
                <a:cs typeface="Times New Roman" panose="02020603050405020304" pitchFamily="18" charset="0"/>
              </a:rPr>
              <a:t>Stores user, travel, booking, payment, and ticket details in structured tables. </a:t>
            </a:r>
          </a:p>
          <a:p>
            <a:pPr marL="571500" indent="-571500" algn="just">
              <a:buFont typeface="Arial" panose="020B0604020202020204" pitchFamily="34" charset="0"/>
              <a:buChar char="•"/>
            </a:pPr>
            <a:r>
              <a:rPr lang="en-US" sz="3600" dirty="0">
                <a:latin typeface="Times New Roman" panose="02020603050405020304" pitchFamily="18" charset="0"/>
                <a:cs typeface="Times New Roman" panose="02020603050405020304" pitchFamily="18" charset="0"/>
              </a:rPr>
              <a:t>Retrieves and updates data during search, booking, and payment operations. </a:t>
            </a:r>
          </a:p>
          <a:p>
            <a:pPr algn="just"/>
            <a:endParaRPr lang="en-US" sz="3600" dirty="0">
              <a:latin typeface="Times New Roman" panose="02020603050405020304" pitchFamily="18" charset="0"/>
              <a:cs typeface="Times New Roman" panose="02020603050405020304" pitchFamily="18" charset="0"/>
            </a:endParaRPr>
          </a:p>
          <a:p>
            <a:pPr algn="just"/>
            <a:r>
              <a:rPr lang="en-US" sz="3600" b="1" dirty="0">
                <a:latin typeface="Times New Roman" panose="02020603050405020304" pitchFamily="18" charset="0"/>
                <a:cs typeface="Times New Roman" panose="02020603050405020304" pitchFamily="18" charset="0"/>
              </a:rPr>
              <a:t> Output</a:t>
            </a:r>
          </a:p>
          <a:p>
            <a:pPr marL="571500" indent="-571500" algn="just">
              <a:buFont typeface="Arial" panose="020B0604020202020204" pitchFamily="34" charset="0"/>
              <a:buChar char="•"/>
            </a:pPr>
            <a:r>
              <a:rPr lang="en-US" sz="3600" dirty="0">
                <a:latin typeface="Times New Roman" panose="02020603050405020304" pitchFamily="18" charset="0"/>
                <a:cs typeface="Times New Roman" panose="02020603050405020304" pitchFamily="18" charset="0"/>
              </a:rPr>
              <a:t>Displays available travel options and booking confirmation to the user. </a:t>
            </a:r>
          </a:p>
          <a:p>
            <a:pPr marL="571500" indent="-571500" algn="just">
              <a:buFont typeface="Arial" panose="020B0604020202020204" pitchFamily="34" charset="0"/>
              <a:buChar char="•"/>
            </a:pPr>
            <a:r>
              <a:rPr lang="en-US" sz="3600" dirty="0">
                <a:latin typeface="Times New Roman" panose="02020603050405020304" pitchFamily="18" charset="0"/>
                <a:cs typeface="Times New Roman" panose="02020603050405020304" pitchFamily="18" charset="0"/>
              </a:rPr>
              <a:t>Generates e-ticket and shows payment status/result. </a:t>
            </a:r>
          </a:p>
        </p:txBody>
      </p:sp>
    </p:spTree>
    <p:extLst>
      <p:ext uri="{BB962C8B-B14F-4D97-AF65-F5344CB8AC3E}">
        <p14:creationId xmlns:p14="http://schemas.microsoft.com/office/powerpoint/2010/main" val="416381773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 name="Group 14"/>
          <p:cNvGrpSpPr/>
          <p:nvPr/>
        </p:nvGrpSpPr>
        <p:grpSpPr>
          <a:xfrm>
            <a:off x="735588" y="5318634"/>
            <a:ext cx="992463" cy="992463"/>
            <a:chOff x="0" y="0"/>
            <a:chExt cx="812800" cy="812800"/>
          </a:xfrm>
        </p:grpSpPr>
        <p:sp>
          <p:nvSpPr>
            <p:cNvPr id="15" name="Freeform 1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6" name="TextBox 16"/>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6</a:t>
              </a:r>
            </a:p>
          </p:txBody>
        </p:sp>
      </p:grpSp>
      <p:grpSp>
        <p:nvGrpSpPr>
          <p:cNvPr id="17" name="Group 17"/>
          <p:cNvGrpSpPr/>
          <p:nvPr/>
        </p:nvGrpSpPr>
        <p:grpSpPr>
          <a:xfrm>
            <a:off x="977741" y="3315742"/>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0" name="Group 20"/>
          <p:cNvGrpSpPr/>
          <p:nvPr/>
        </p:nvGrpSpPr>
        <p:grpSpPr>
          <a:xfrm>
            <a:off x="977741" y="1982349"/>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3" name="Group 23"/>
          <p:cNvGrpSpPr/>
          <p:nvPr/>
        </p:nvGrpSpPr>
        <p:grpSpPr>
          <a:xfrm>
            <a:off x="977741" y="3983373"/>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26" name="Group 26"/>
          <p:cNvGrpSpPr/>
          <p:nvPr/>
        </p:nvGrpSpPr>
        <p:grpSpPr>
          <a:xfrm>
            <a:off x="977741" y="2648112"/>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9" name="Group 29"/>
          <p:cNvGrpSpPr/>
          <p:nvPr/>
        </p:nvGrpSpPr>
        <p:grpSpPr>
          <a:xfrm>
            <a:off x="977741" y="6425585"/>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2" name="Group 32"/>
          <p:cNvGrpSpPr/>
          <p:nvPr/>
        </p:nvGrpSpPr>
        <p:grpSpPr>
          <a:xfrm>
            <a:off x="977741" y="4651003"/>
            <a:ext cx="508158" cy="543805"/>
            <a:chOff x="0" y="0"/>
            <a:chExt cx="812800" cy="869819"/>
          </a:xfrm>
        </p:grpSpPr>
        <p:sp>
          <p:nvSpPr>
            <p:cNvPr id="33" name="Freeform 3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4" name="TextBox 3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37" name="Group 37"/>
          <p:cNvGrpSpPr/>
          <p:nvPr/>
        </p:nvGrpSpPr>
        <p:grpSpPr>
          <a:xfrm>
            <a:off x="977741" y="7093216"/>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0" name="Group 40"/>
          <p:cNvGrpSpPr/>
          <p:nvPr/>
        </p:nvGrpSpPr>
        <p:grpSpPr>
          <a:xfrm>
            <a:off x="977741" y="7760846"/>
            <a:ext cx="508158" cy="543805"/>
            <a:chOff x="0" y="0"/>
            <a:chExt cx="812800" cy="869819"/>
          </a:xfrm>
        </p:grpSpPr>
        <p:sp>
          <p:nvSpPr>
            <p:cNvPr id="41" name="Freeform 4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2" name="TextBox 4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7" name="TextBox 46">
            <a:extLst>
              <a:ext uri="{FF2B5EF4-FFF2-40B4-BE49-F238E27FC236}">
                <a16:creationId xmlns:a16="http://schemas.microsoft.com/office/drawing/2014/main" id="{1B156733-A733-69AA-7523-59650E125994}"/>
              </a:ext>
            </a:extLst>
          </p:cNvPr>
          <p:cNvSpPr txBox="1"/>
          <p:nvPr/>
        </p:nvSpPr>
        <p:spPr>
          <a:xfrm>
            <a:off x="190500" y="315938"/>
            <a:ext cx="158115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WORKFLOW</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50" name="TextBox 49">
            <a:extLst>
              <a:ext uri="{FF2B5EF4-FFF2-40B4-BE49-F238E27FC236}">
                <a16:creationId xmlns:a16="http://schemas.microsoft.com/office/drawing/2014/main" id="{D04F3B99-A5D2-54DC-51CD-4E86A99D3EA2}"/>
              </a:ext>
            </a:extLst>
          </p:cNvPr>
          <p:cNvSpPr txBox="1"/>
          <p:nvPr/>
        </p:nvSpPr>
        <p:spPr>
          <a:xfrm>
            <a:off x="2209800" y="1638300"/>
            <a:ext cx="15082325" cy="4832092"/>
          </a:xfrm>
          <a:prstGeom prst="rect">
            <a:avLst/>
          </a:prstGeom>
          <a:noFill/>
        </p:spPr>
        <p:txBody>
          <a:bodyPr wrap="square" rtlCol="0">
            <a:spAutoFit/>
          </a:bodyPr>
          <a:lstStyle/>
          <a:p>
            <a:endParaRPr lang="en-US" sz="2800" dirty="0"/>
          </a:p>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grpSp>
        <p:nvGrpSpPr>
          <p:cNvPr id="2" name="Group 37">
            <a:extLst>
              <a:ext uri="{FF2B5EF4-FFF2-40B4-BE49-F238E27FC236}">
                <a16:creationId xmlns:a16="http://schemas.microsoft.com/office/drawing/2014/main" id="{5FF0B2D0-7843-1835-7081-F69B51BDD5B8}"/>
              </a:ext>
            </a:extLst>
          </p:cNvPr>
          <p:cNvGrpSpPr/>
          <p:nvPr/>
        </p:nvGrpSpPr>
        <p:grpSpPr>
          <a:xfrm>
            <a:off x="14020800" y="-8142801"/>
            <a:ext cx="10994424" cy="10994424"/>
            <a:chOff x="0" y="0"/>
            <a:chExt cx="812800" cy="812800"/>
          </a:xfrm>
        </p:grpSpPr>
        <p:sp>
          <p:nvSpPr>
            <p:cNvPr id="3" name="Freeform 38">
              <a:extLst>
                <a:ext uri="{FF2B5EF4-FFF2-40B4-BE49-F238E27FC236}">
                  <a16:creationId xmlns:a16="http://schemas.microsoft.com/office/drawing/2014/main" id="{1E43E843-CEEF-9B58-BAB6-E0FEFB947A9E}"/>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4" name="TextBox 39">
              <a:extLst>
                <a:ext uri="{FF2B5EF4-FFF2-40B4-BE49-F238E27FC236}">
                  <a16:creationId xmlns:a16="http://schemas.microsoft.com/office/drawing/2014/main" id="{B7A3D907-9F7C-D8D3-DE54-E07FC037F8CA}"/>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pic>
        <p:nvPicPr>
          <p:cNvPr id="6" name="Picture 5">
            <a:extLst>
              <a:ext uri="{FF2B5EF4-FFF2-40B4-BE49-F238E27FC236}">
                <a16:creationId xmlns:a16="http://schemas.microsoft.com/office/drawing/2014/main" id="{27A586A2-85C5-CA75-708D-ACBE84CFF13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28928" y="1820896"/>
            <a:ext cx="14100292" cy="7323169"/>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 name="Group 19"/>
          <p:cNvGrpSpPr/>
          <p:nvPr/>
        </p:nvGrpSpPr>
        <p:grpSpPr>
          <a:xfrm>
            <a:off x="735588" y="5976927"/>
            <a:ext cx="992463" cy="992463"/>
            <a:chOff x="0" y="0"/>
            <a:chExt cx="812800" cy="812800"/>
          </a:xfrm>
        </p:grpSpPr>
        <p:sp>
          <p:nvSpPr>
            <p:cNvPr id="20" name="Freeform 2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21" name="TextBox 21"/>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7</a:t>
              </a:r>
            </a:p>
          </p:txBody>
        </p:sp>
      </p:grpSp>
      <p:grpSp>
        <p:nvGrpSpPr>
          <p:cNvPr id="22" name="Group 22"/>
          <p:cNvGrpSpPr/>
          <p:nvPr/>
        </p:nvGrpSpPr>
        <p:grpSpPr>
          <a:xfrm>
            <a:off x="977741" y="3315742"/>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5" name="Group 25"/>
          <p:cNvGrpSpPr/>
          <p:nvPr/>
        </p:nvGrpSpPr>
        <p:grpSpPr>
          <a:xfrm>
            <a:off x="977741" y="1982349"/>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8" name="Group 28"/>
          <p:cNvGrpSpPr/>
          <p:nvPr/>
        </p:nvGrpSpPr>
        <p:grpSpPr>
          <a:xfrm>
            <a:off x="977741" y="3983373"/>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31" name="Group 31"/>
          <p:cNvGrpSpPr/>
          <p:nvPr/>
        </p:nvGrpSpPr>
        <p:grpSpPr>
          <a:xfrm>
            <a:off x="977741" y="2648112"/>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34" name="Group 34"/>
          <p:cNvGrpSpPr/>
          <p:nvPr/>
        </p:nvGrpSpPr>
        <p:grpSpPr>
          <a:xfrm>
            <a:off x="977741" y="5318634"/>
            <a:ext cx="508158" cy="543805"/>
            <a:chOff x="0" y="0"/>
            <a:chExt cx="812800" cy="869819"/>
          </a:xfrm>
        </p:grpSpPr>
        <p:sp>
          <p:nvSpPr>
            <p:cNvPr id="35" name="Freeform 3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6" name="TextBox 3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7" name="Group 37"/>
          <p:cNvGrpSpPr/>
          <p:nvPr/>
        </p:nvGrpSpPr>
        <p:grpSpPr>
          <a:xfrm>
            <a:off x="977741" y="4651003"/>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40" name="Group 40"/>
          <p:cNvGrpSpPr/>
          <p:nvPr/>
        </p:nvGrpSpPr>
        <p:grpSpPr>
          <a:xfrm>
            <a:off x="977741" y="7093216"/>
            <a:ext cx="508158" cy="543805"/>
            <a:chOff x="0" y="0"/>
            <a:chExt cx="812800" cy="869819"/>
          </a:xfrm>
        </p:grpSpPr>
        <p:sp>
          <p:nvSpPr>
            <p:cNvPr id="41" name="Freeform 4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2" name="TextBox 4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3" name="Group 43"/>
          <p:cNvGrpSpPr/>
          <p:nvPr/>
        </p:nvGrpSpPr>
        <p:grpSpPr>
          <a:xfrm>
            <a:off x="977741" y="7760846"/>
            <a:ext cx="508158" cy="543805"/>
            <a:chOff x="0" y="0"/>
            <a:chExt cx="812800" cy="869819"/>
          </a:xfrm>
        </p:grpSpPr>
        <p:sp>
          <p:nvSpPr>
            <p:cNvPr id="44" name="Freeform 4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5" name="TextBox 4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7" name="TextBox 46">
            <a:extLst>
              <a:ext uri="{FF2B5EF4-FFF2-40B4-BE49-F238E27FC236}">
                <a16:creationId xmlns:a16="http://schemas.microsoft.com/office/drawing/2014/main" id="{E4ED097B-FECF-66E6-2A98-0F8B4D948FC8}"/>
              </a:ext>
            </a:extLst>
          </p:cNvPr>
          <p:cNvSpPr txBox="1"/>
          <p:nvPr/>
        </p:nvSpPr>
        <p:spPr>
          <a:xfrm>
            <a:off x="152400" y="658951"/>
            <a:ext cx="16764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TECHNOLOGIES USED</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a:extLst>
              <a:ext uri="{FF2B5EF4-FFF2-40B4-BE49-F238E27FC236}">
                <a16:creationId xmlns:a16="http://schemas.microsoft.com/office/drawing/2014/main" id="{26E9F5F9-CCF8-6F05-4C01-034C88D7529E}"/>
              </a:ext>
            </a:extLst>
          </p:cNvPr>
          <p:cNvSpPr txBox="1"/>
          <p:nvPr/>
        </p:nvSpPr>
        <p:spPr>
          <a:xfrm>
            <a:off x="2227934" y="1970482"/>
            <a:ext cx="15082325" cy="11787842"/>
          </a:xfrm>
          <a:prstGeom prst="rect">
            <a:avLst/>
          </a:prstGeom>
          <a:noFill/>
        </p:spPr>
        <p:txBody>
          <a:bodyPr wrap="square" rtlCol="0">
            <a:spAutoFit/>
          </a:bodyPr>
          <a:lstStyle/>
          <a:p>
            <a:pPr algn="just"/>
            <a:r>
              <a:rPr lang="en-IN" sz="3600" b="1" dirty="0">
                <a:latin typeface="Times New Roman" panose="02020603050405020304" pitchFamily="18" charset="0"/>
                <a:cs typeface="Times New Roman" panose="02020603050405020304" pitchFamily="18" charset="0"/>
              </a:rPr>
              <a:t>Frontend:</a:t>
            </a:r>
          </a:p>
          <a:p>
            <a:pPr algn="just"/>
            <a:r>
              <a:rPr lang="en-IN" sz="3600" dirty="0">
                <a:latin typeface="Times New Roman" panose="02020603050405020304" pitchFamily="18" charset="0"/>
                <a:cs typeface="Times New Roman" panose="02020603050405020304" pitchFamily="18" charset="0"/>
              </a:rPr>
              <a:t>Technologies used: HTML5, CSS3, React JS </a:t>
            </a:r>
          </a:p>
          <a:p>
            <a:pPr algn="just"/>
            <a:r>
              <a:rPr lang="en-IN" sz="3600" dirty="0">
                <a:latin typeface="Times New Roman" panose="02020603050405020304" pitchFamily="18" charset="0"/>
                <a:cs typeface="Times New Roman" panose="02020603050405020304" pitchFamily="18" charset="0"/>
              </a:rPr>
              <a:t>Handles user interface for login, search, booking, and displaying tickets </a:t>
            </a:r>
          </a:p>
          <a:p>
            <a:pPr algn="just"/>
            <a:endParaRPr lang="en-IN" sz="3600" b="1" dirty="0">
              <a:latin typeface="Times New Roman" panose="02020603050405020304" pitchFamily="18" charset="0"/>
              <a:cs typeface="Times New Roman" panose="02020603050405020304" pitchFamily="18" charset="0"/>
            </a:endParaRPr>
          </a:p>
          <a:p>
            <a:pPr algn="just"/>
            <a:r>
              <a:rPr lang="en-IN" sz="3600" b="1" dirty="0">
                <a:latin typeface="Times New Roman" panose="02020603050405020304" pitchFamily="18" charset="0"/>
                <a:cs typeface="Times New Roman" panose="02020603050405020304" pitchFamily="18" charset="0"/>
              </a:rPr>
              <a:t>Backend:</a:t>
            </a:r>
          </a:p>
          <a:p>
            <a:pPr algn="just"/>
            <a:r>
              <a:rPr lang="en-IN" sz="3600" dirty="0">
                <a:latin typeface="Times New Roman" panose="02020603050405020304" pitchFamily="18" charset="0"/>
                <a:cs typeface="Times New Roman" panose="02020603050405020304" pitchFamily="18" charset="0"/>
              </a:rPr>
              <a:t>Developed using Spring Boot (REST APIs) </a:t>
            </a:r>
          </a:p>
          <a:p>
            <a:pPr algn="just"/>
            <a:r>
              <a:rPr lang="en-IN" sz="3600" dirty="0">
                <a:latin typeface="Times New Roman" panose="02020603050405020304" pitchFamily="18" charset="0"/>
                <a:cs typeface="Times New Roman" panose="02020603050405020304" pitchFamily="18" charset="0"/>
              </a:rPr>
              <a:t>Handles business logic like authentication, booking, payment processing </a:t>
            </a:r>
          </a:p>
          <a:p>
            <a:pPr algn="just"/>
            <a:br>
              <a:rPr lang="en-IN" sz="3600" dirty="0">
                <a:latin typeface="Times New Roman" panose="02020603050405020304" pitchFamily="18" charset="0"/>
                <a:cs typeface="Times New Roman" panose="02020603050405020304" pitchFamily="18" charset="0"/>
              </a:rPr>
            </a:br>
            <a:r>
              <a:rPr lang="en-IN" sz="3600" b="1" dirty="0">
                <a:latin typeface="Times New Roman" panose="02020603050405020304" pitchFamily="18" charset="0"/>
                <a:cs typeface="Times New Roman" panose="02020603050405020304" pitchFamily="18" charset="0"/>
              </a:rPr>
              <a:t> Database:</a:t>
            </a:r>
          </a:p>
          <a:p>
            <a:pPr algn="just"/>
            <a:r>
              <a:rPr lang="en-IN" sz="3600" dirty="0">
                <a:latin typeface="Times New Roman" panose="02020603050405020304" pitchFamily="18" charset="0"/>
                <a:cs typeface="Times New Roman" panose="02020603050405020304" pitchFamily="18" charset="0"/>
              </a:rPr>
              <a:t>MySQL database to store users, bookings, payments, and ticket details </a:t>
            </a:r>
          </a:p>
          <a:p>
            <a:pPr algn="just"/>
            <a:r>
              <a:rPr lang="en-IN" sz="3600" dirty="0">
                <a:latin typeface="Times New Roman" panose="02020603050405020304" pitchFamily="18" charset="0"/>
                <a:cs typeface="Times New Roman" panose="02020603050405020304" pitchFamily="18" charset="0"/>
              </a:rPr>
              <a:t>Uses tables like Users, Travel, Schedules, Bookings, Payments, Tickets </a:t>
            </a:r>
          </a:p>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grpSp>
        <p:nvGrpSpPr>
          <p:cNvPr id="2" name="Group 37">
            <a:extLst>
              <a:ext uri="{FF2B5EF4-FFF2-40B4-BE49-F238E27FC236}">
                <a16:creationId xmlns:a16="http://schemas.microsoft.com/office/drawing/2014/main" id="{4D847D41-4470-420F-942D-93587F92804D}"/>
              </a:ext>
            </a:extLst>
          </p:cNvPr>
          <p:cNvGrpSpPr/>
          <p:nvPr/>
        </p:nvGrpSpPr>
        <p:grpSpPr>
          <a:xfrm>
            <a:off x="14401800" y="-2955537"/>
            <a:ext cx="10994424" cy="10994424"/>
            <a:chOff x="0" y="0"/>
            <a:chExt cx="812800" cy="812800"/>
          </a:xfrm>
        </p:grpSpPr>
        <p:sp>
          <p:nvSpPr>
            <p:cNvPr id="3" name="Freeform 38">
              <a:extLst>
                <a:ext uri="{FF2B5EF4-FFF2-40B4-BE49-F238E27FC236}">
                  <a16:creationId xmlns:a16="http://schemas.microsoft.com/office/drawing/2014/main" id="{A4FD480D-1445-2C4B-DB46-82271E5DF7B5}"/>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4" name="TextBox 39">
              <a:extLst>
                <a:ext uri="{FF2B5EF4-FFF2-40B4-BE49-F238E27FC236}">
                  <a16:creationId xmlns:a16="http://schemas.microsoft.com/office/drawing/2014/main" id="{26A1CA4A-B4D1-F4E6-0933-879F4CA7F8FA}"/>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oup 7"/>
          <p:cNvGrpSpPr/>
          <p:nvPr/>
        </p:nvGrpSpPr>
        <p:grpSpPr>
          <a:xfrm>
            <a:off x="735588" y="6653894"/>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8</a:t>
              </a:r>
            </a:p>
          </p:txBody>
        </p:sp>
      </p:grpSp>
      <p:grpSp>
        <p:nvGrpSpPr>
          <p:cNvPr id="10" name="Group 10"/>
          <p:cNvGrpSpPr/>
          <p:nvPr/>
        </p:nvGrpSpPr>
        <p:grpSpPr>
          <a:xfrm>
            <a:off x="977741" y="3315742"/>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p:cNvGrpSpPr/>
          <p:nvPr/>
        </p:nvGrpSpPr>
        <p:grpSpPr>
          <a:xfrm>
            <a:off x="977741"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p:cNvGrpSpPr/>
          <p:nvPr/>
        </p:nvGrpSpPr>
        <p:grpSpPr>
          <a:xfrm>
            <a:off x="977741" y="3983373"/>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p:cNvGrpSpPr/>
          <p:nvPr/>
        </p:nvGrpSpPr>
        <p:grpSpPr>
          <a:xfrm>
            <a:off x="977741"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p:cNvGrpSpPr/>
          <p:nvPr/>
        </p:nvGrpSpPr>
        <p:grpSpPr>
          <a:xfrm>
            <a:off x="977741" y="5318634"/>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p:cNvGrpSpPr/>
          <p:nvPr/>
        </p:nvGrpSpPr>
        <p:grpSpPr>
          <a:xfrm>
            <a:off x="977741" y="4651003"/>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p:cNvGrpSpPr/>
          <p:nvPr/>
        </p:nvGrpSpPr>
        <p:grpSpPr>
          <a:xfrm>
            <a:off x="977741" y="5986264"/>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p:cNvGrpSpPr/>
          <p:nvPr/>
        </p:nvGrpSpPr>
        <p:grpSpPr>
          <a:xfrm>
            <a:off x="977741" y="7760846"/>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grpSp>
        <p:nvGrpSpPr>
          <p:cNvPr id="35" name="Group 35"/>
          <p:cNvGrpSpPr/>
          <p:nvPr/>
        </p:nvGrpSpPr>
        <p:grpSpPr>
          <a:xfrm>
            <a:off x="17170670" y="-178579"/>
            <a:ext cx="10994424" cy="10994424"/>
            <a:chOff x="0" y="0"/>
            <a:chExt cx="812800" cy="812800"/>
          </a:xfrm>
        </p:grpSpPr>
        <p:sp>
          <p:nvSpPr>
            <p:cNvPr id="36" name="Freeform 3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9A1BCE7C-890E-A01E-691E-1D3D07CF6333}"/>
              </a:ext>
            </a:extLst>
          </p:cNvPr>
          <p:cNvSpPr txBox="1"/>
          <p:nvPr/>
        </p:nvSpPr>
        <p:spPr>
          <a:xfrm>
            <a:off x="377856" y="671991"/>
            <a:ext cx="156972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MODULE DESCRIPTION</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9304C197-EAC7-7A26-FAED-ED7302DBEC6E}"/>
              </a:ext>
            </a:extLst>
          </p:cNvPr>
          <p:cNvSpPr txBox="1"/>
          <p:nvPr/>
        </p:nvSpPr>
        <p:spPr>
          <a:xfrm>
            <a:off x="2212944" y="1214121"/>
            <a:ext cx="15082325" cy="10926068"/>
          </a:xfrm>
          <a:prstGeom prst="rect">
            <a:avLst/>
          </a:prstGeom>
          <a:noFill/>
        </p:spPr>
        <p:txBody>
          <a:bodyPr wrap="square" rtlCol="0">
            <a:spAutoFit/>
          </a:bodyPr>
          <a:lstStyle/>
          <a:p>
            <a:endParaRPr lang="en-IN" sz="2800" b="1" dirty="0"/>
          </a:p>
          <a:p>
            <a:r>
              <a:rPr lang="en-US" sz="3200" b="1" dirty="0">
                <a:latin typeface="Times New Roman" panose="02020603050405020304" pitchFamily="18" charset="0"/>
                <a:cs typeface="Times New Roman" panose="02020603050405020304" pitchFamily="18" charset="0"/>
              </a:rPr>
              <a:t>Module 1: User Management</a:t>
            </a:r>
          </a:p>
          <a:p>
            <a:r>
              <a:rPr lang="en-US" sz="3200" dirty="0">
                <a:latin typeface="Times New Roman" panose="02020603050405020304" pitchFamily="18" charset="0"/>
                <a:cs typeface="Times New Roman" panose="02020603050405020304" pitchFamily="18" charset="0"/>
              </a:rPr>
              <a:t>Handles user registration, login, and profile management with secure authentication.</a:t>
            </a:r>
            <a:br>
              <a:rPr lang="en-US" sz="3200" dirty="0">
                <a:latin typeface="Times New Roman" panose="02020603050405020304" pitchFamily="18" charset="0"/>
                <a:cs typeface="Times New Roman" panose="02020603050405020304" pitchFamily="18" charset="0"/>
              </a:rPr>
            </a:br>
            <a:r>
              <a:rPr lang="en-US" sz="3200" dirty="0">
                <a:latin typeface="Times New Roman" panose="02020603050405020304" pitchFamily="18" charset="0"/>
                <a:cs typeface="Times New Roman" panose="02020603050405020304" pitchFamily="18" charset="0"/>
              </a:rPr>
              <a:t>Allows users to create accounts, log in, and manage their booking details.</a:t>
            </a:r>
          </a:p>
          <a:p>
            <a:br>
              <a:rPr lang="en-US" sz="3200" dirty="0">
                <a:latin typeface="Times New Roman" panose="02020603050405020304" pitchFamily="18" charset="0"/>
                <a:cs typeface="Times New Roman" panose="02020603050405020304" pitchFamily="18" charset="0"/>
              </a:rPr>
            </a:br>
            <a:r>
              <a:rPr lang="en-US" sz="3200" b="1" dirty="0">
                <a:latin typeface="Times New Roman" panose="02020603050405020304" pitchFamily="18" charset="0"/>
                <a:cs typeface="Times New Roman" panose="02020603050405020304" pitchFamily="18" charset="0"/>
              </a:rPr>
              <a:t> Module 2: Ticket Search &amp; Booking</a:t>
            </a:r>
          </a:p>
          <a:p>
            <a:r>
              <a:rPr lang="en-US" sz="3200" dirty="0">
                <a:latin typeface="Times New Roman" panose="02020603050405020304" pitchFamily="18" charset="0"/>
                <a:cs typeface="Times New Roman" panose="02020603050405020304" pitchFamily="18" charset="0"/>
              </a:rPr>
              <a:t>Enables users to search buses/trains/flights based on source, destination, and date.</a:t>
            </a:r>
            <a:br>
              <a:rPr lang="en-US" sz="3200" dirty="0">
                <a:latin typeface="Times New Roman" panose="02020603050405020304" pitchFamily="18" charset="0"/>
                <a:cs typeface="Times New Roman" panose="02020603050405020304" pitchFamily="18" charset="0"/>
              </a:rPr>
            </a:br>
            <a:r>
              <a:rPr lang="en-US" sz="3200" dirty="0">
                <a:latin typeface="Times New Roman" panose="02020603050405020304" pitchFamily="18" charset="0"/>
                <a:cs typeface="Times New Roman" panose="02020603050405020304" pitchFamily="18" charset="0"/>
              </a:rPr>
              <a:t>Handles seat selection, fare calculation, and ticket booking process.</a:t>
            </a:r>
          </a:p>
          <a:p>
            <a:br>
              <a:rPr lang="en-US" sz="3200" dirty="0">
                <a:latin typeface="Times New Roman" panose="02020603050405020304" pitchFamily="18" charset="0"/>
                <a:cs typeface="Times New Roman" panose="02020603050405020304" pitchFamily="18" charset="0"/>
              </a:rPr>
            </a:br>
            <a:r>
              <a:rPr lang="en-US" sz="3200" b="1" dirty="0">
                <a:latin typeface="Times New Roman" panose="02020603050405020304" pitchFamily="18" charset="0"/>
                <a:cs typeface="Times New Roman" panose="02020603050405020304" pitchFamily="18" charset="0"/>
              </a:rPr>
              <a:t>Module 3: Database Management</a:t>
            </a:r>
          </a:p>
          <a:p>
            <a:r>
              <a:rPr lang="en-US" sz="3200" dirty="0">
                <a:latin typeface="Times New Roman" panose="02020603050405020304" pitchFamily="18" charset="0"/>
                <a:cs typeface="Times New Roman" panose="02020603050405020304" pitchFamily="18" charset="0"/>
              </a:rPr>
              <a:t>Manages storage of user data, travel details, bookings, payments, and tickets.</a:t>
            </a:r>
            <a:br>
              <a:rPr lang="en-US" sz="3200" dirty="0">
                <a:latin typeface="Times New Roman" panose="02020603050405020304" pitchFamily="18" charset="0"/>
                <a:cs typeface="Times New Roman" panose="02020603050405020304" pitchFamily="18" charset="0"/>
              </a:rPr>
            </a:br>
            <a:r>
              <a:rPr lang="en-US" sz="3200" dirty="0">
                <a:latin typeface="Times New Roman" panose="02020603050405020304" pitchFamily="18" charset="0"/>
                <a:cs typeface="Times New Roman" panose="02020603050405020304" pitchFamily="18" charset="0"/>
              </a:rPr>
              <a:t>Ensures secure data retrieval, updates, and consistency using MySQL.</a:t>
            </a:r>
          </a:p>
          <a:p>
            <a:br>
              <a:rPr lang="en-US" sz="3200" dirty="0">
                <a:latin typeface="Times New Roman" panose="02020603050405020304" pitchFamily="18" charset="0"/>
                <a:cs typeface="Times New Roman" panose="02020603050405020304" pitchFamily="18" charset="0"/>
              </a:rPr>
            </a:br>
            <a:r>
              <a:rPr lang="en-US" sz="3200" b="1" dirty="0">
                <a:latin typeface="Times New Roman" panose="02020603050405020304" pitchFamily="18" charset="0"/>
                <a:cs typeface="Times New Roman" panose="02020603050405020304" pitchFamily="18" charset="0"/>
              </a:rPr>
              <a:t>Module 4: Integration &amp; Smart Features</a:t>
            </a:r>
          </a:p>
          <a:p>
            <a:r>
              <a:rPr lang="en-US" sz="3200" dirty="0">
                <a:latin typeface="Times New Roman" panose="02020603050405020304" pitchFamily="18" charset="0"/>
                <a:cs typeface="Times New Roman" panose="02020603050405020304" pitchFamily="18" charset="0"/>
              </a:rPr>
              <a:t>Integrates third-party APIs like payment gateway, email/SMS notifications.</a:t>
            </a:r>
            <a:br>
              <a:rPr lang="en-US" sz="3200" dirty="0">
                <a:latin typeface="Times New Roman" panose="02020603050405020304" pitchFamily="18" charset="0"/>
                <a:cs typeface="Times New Roman" panose="02020603050405020304" pitchFamily="18" charset="0"/>
              </a:rPr>
            </a:br>
            <a:r>
              <a:rPr lang="en-US" sz="3200" dirty="0">
                <a:latin typeface="Times New Roman" panose="02020603050405020304" pitchFamily="18" charset="0"/>
                <a:cs typeface="Times New Roman" panose="02020603050405020304" pitchFamily="18" charset="0"/>
              </a:rPr>
              <a:t>Includes smart features like auto fare calculation and real-time availability.</a:t>
            </a:r>
          </a:p>
          <a:p>
            <a:endParaRPr lang="en-IN" sz="2800" dirty="0"/>
          </a:p>
          <a:p>
            <a:endParaRPr lang="en-IN" sz="2800" dirty="0"/>
          </a:p>
          <a:p>
            <a:endParaRPr lang="en-IN" sz="2800" dirty="0"/>
          </a:p>
          <a:p>
            <a:endParaRPr lang="en-IN" sz="2800" dirty="0"/>
          </a:p>
          <a:p>
            <a:endParaRPr lang="en-IN" sz="2800" dirty="0"/>
          </a:p>
          <a:p>
            <a:endParaRPr lang="en-IN" sz="2800" dirty="0"/>
          </a:p>
          <a:p>
            <a:endParaRPr lang="en-IN" sz="2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CA1C620-3E9E-7B20-80CB-45782CEAFE1B}"/>
              </a:ext>
            </a:extLst>
          </p:cNvPr>
          <p:cNvSpPr txBox="1"/>
          <p:nvPr/>
        </p:nvSpPr>
        <p:spPr>
          <a:xfrm>
            <a:off x="1066800" y="942350"/>
            <a:ext cx="15773400" cy="8402300"/>
          </a:xfrm>
          <a:prstGeom prst="rect">
            <a:avLst/>
          </a:prstGeom>
          <a:noFill/>
        </p:spPr>
        <p:txBody>
          <a:bodyPr wrap="square" rtlCol="0">
            <a:spAutoFit/>
          </a:bodyPr>
          <a:lstStyle/>
          <a:p>
            <a:r>
              <a:rPr lang="en-IN" sz="3600" b="1" dirty="0">
                <a:latin typeface="Times New Roman" panose="02020603050405020304" pitchFamily="18" charset="0"/>
                <a:cs typeface="Times New Roman" panose="02020603050405020304" pitchFamily="18" charset="0"/>
              </a:rPr>
              <a:t>Third-Party API:</a:t>
            </a:r>
          </a:p>
          <a:p>
            <a:r>
              <a:rPr lang="en-IN" sz="3600" dirty="0">
                <a:latin typeface="Times New Roman" panose="02020603050405020304" pitchFamily="18" charset="0"/>
                <a:cs typeface="Times New Roman" panose="02020603050405020304" pitchFamily="18" charset="0"/>
              </a:rPr>
              <a:t>Payment Gateway API (</a:t>
            </a:r>
            <a:r>
              <a:rPr lang="en-IN" sz="3600" dirty="0" err="1">
                <a:latin typeface="Times New Roman" panose="02020603050405020304" pitchFamily="18" charset="0"/>
                <a:cs typeface="Times New Roman" panose="02020603050405020304" pitchFamily="18" charset="0"/>
              </a:rPr>
              <a:t>Razorpay</a:t>
            </a:r>
            <a:r>
              <a:rPr lang="en-IN" sz="3600" dirty="0">
                <a:latin typeface="Times New Roman" panose="02020603050405020304" pitchFamily="18" charset="0"/>
                <a:cs typeface="Times New Roman" panose="02020603050405020304" pitchFamily="18" charset="0"/>
              </a:rPr>
              <a:t> / Stripe) for handling transactions </a:t>
            </a:r>
          </a:p>
          <a:p>
            <a:r>
              <a:rPr lang="en-IN" sz="3600" dirty="0">
                <a:latin typeface="Times New Roman" panose="02020603050405020304" pitchFamily="18" charset="0"/>
                <a:cs typeface="Times New Roman" panose="02020603050405020304" pitchFamily="18" charset="0"/>
              </a:rPr>
              <a:t>External APIs for travel data (flight/train/bus info) and SMS/Email notifications </a:t>
            </a:r>
          </a:p>
          <a:p>
            <a:endParaRPr lang="en-IN" sz="3600" b="1" dirty="0">
              <a:latin typeface="Times New Roman" panose="02020603050405020304" pitchFamily="18" charset="0"/>
              <a:cs typeface="Times New Roman" panose="02020603050405020304" pitchFamily="18" charset="0"/>
            </a:endParaRPr>
          </a:p>
          <a:p>
            <a:r>
              <a:rPr lang="en-IN" sz="3600" b="1" dirty="0">
                <a:latin typeface="Times New Roman" panose="02020603050405020304" pitchFamily="18" charset="0"/>
                <a:cs typeface="Times New Roman" panose="02020603050405020304" pitchFamily="18" charset="0"/>
              </a:rPr>
              <a:t>Tools:</a:t>
            </a:r>
          </a:p>
          <a:p>
            <a:r>
              <a:rPr lang="en-IN" sz="3600" dirty="0">
                <a:latin typeface="Times New Roman" panose="02020603050405020304" pitchFamily="18" charset="0"/>
                <a:cs typeface="Times New Roman" panose="02020603050405020304" pitchFamily="18" charset="0"/>
              </a:rPr>
              <a:t>Eclipse / VS Code for development </a:t>
            </a:r>
          </a:p>
          <a:p>
            <a:r>
              <a:rPr lang="en-IN" sz="3600" dirty="0">
                <a:latin typeface="Times New Roman" panose="02020603050405020304" pitchFamily="18" charset="0"/>
                <a:cs typeface="Times New Roman" panose="02020603050405020304" pitchFamily="18" charset="0"/>
              </a:rPr>
              <a:t>Git &amp; GitHub for version control, Postman for API testing </a:t>
            </a:r>
          </a:p>
          <a:p>
            <a:br>
              <a:rPr lang="en-IN" sz="3600" dirty="0">
                <a:latin typeface="Times New Roman" panose="02020603050405020304" pitchFamily="18" charset="0"/>
                <a:cs typeface="Times New Roman" panose="02020603050405020304" pitchFamily="18" charset="0"/>
              </a:rPr>
            </a:br>
            <a:r>
              <a:rPr lang="en-IN" sz="3600" b="1" dirty="0">
                <a:latin typeface="Times New Roman" panose="02020603050405020304" pitchFamily="18" charset="0"/>
                <a:cs typeface="Times New Roman" panose="02020603050405020304" pitchFamily="18" charset="0"/>
              </a:rPr>
              <a:t>Hardware/Software Requirements:</a:t>
            </a:r>
          </a:p>
          <a:p>
            <a:r>
              <a:rPr lang="en-IN" sz="3600" b="1" dirty="0">
                <a:latin typeface="Times New Roman" panose="02020603050405020304" pitchFamily="18" charset="0"/>
                <a:cs typeface="Times New Roman" panose="02020603050405020304" pitchFamily="18" charset="0"/>
              </a:rPr>
              <a:t>Hardware:</a:t>
            </a:r>
          </a:p>
          <a:p>
            <a:r>
              <a:rPr lang="en-IN" sz="3600" dirty="0">
                <a:latin typeface="Times New Roman" panose="02020603050405020304" pitchFamily="18" charset="0"/>
                <a:cs typeface="Times New Roman" panose="02020603050405020304" pitchFamily="18" charset="0"/>
              </a:rPr>
              <a:t>Minimum 4GB RAM, Intel i3 or above processor </a:t>
            </a:r>
          </a:p>
          <a:p>
            <a:r>
              <a:rPr lang="en-IN" sz="3600" dirty="0">
                <a:latin typeface="Times New Roman" panose="02020603050405020304" pitchFamily="18" charset="0"/>
                <a:cs typeface="Times New Roman" panose="02020603050405020304" pitchFamily="18" charset="0"/>
              </a:rPr>
              <a:t>Computer/Laptop with internet connection </a:t>
            </a:r>
          </a:p>
          <a:p>
            <a:r>
              <a:rPr lang="en-IN" sz="3600" b="1" dirty="0">
                <a:latin typeface="Times New Roman" panose="02020603050405020304" pitchFamily="18" charset="0"/>
                <a:cs typeface="Times New Roman" panose="02020603050405020304" pitchFamily="18" charset="0"/>
              </a:rPr>
              <a:t>Software:</a:t>
            </a:r>
          </a:p>
          <a:p>
            <a:r>
              <a:rPr lang="en-IN" sz="3600" dirty="0">
                <a:latin typeface="Times New Roman" panose="02020603050405020304" pitchFamily="18" charset="0"/>
                <a:cs typeface="Times New Roman" panose="02020603050405020304" pitchFamily="18" charset="0"/>
              </a:rPr>
              <a:t>Java (JDK 8+), Spring Boot, MySQL Server </a:t>
            </a:r>
          </a:p>
          <a:p>
            <a:r>
              <a:rPr lang="en-IN" sz="3600" dirty="0">
                <a:latin typeface="Times New Roman" panose="02020603050405020304" pitchFamily="18" charset="0"/>
                <a:cs typeface="Times New Roman" panose="02020603050405020304" pitchFamily="18" charset="0"/>
              </a:rPr>
              <a:t>Web browser (Chrome), Node.js (for React), Maven</a:t>
            </a:r>
          </a:p>
        </p:txBody>
      </p:sp>
    </p:spTree>
    <p:extLst>
      <p:ext uri="{BB962C8B-B14F-4D97-AF65-F5344CB8AC3E}">
        <p14:creationId xmlns:p14="http://schemas.microsoft.com/office/powerpoint/2010/main" val="257948186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BFBA1B-7EE7-47B6-41F3-C4B61A979F6F}"/>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D8CD5C70-566B-9213-9F31-546BB621CCAF}"/>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7EBAE7EB-82E8-3AF5-3C43-EA7688F73256}"/>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a:extLst>
                <a:ext uri="{FF2B5EF4-FFF2-40B4-BE49-F238E27FC236}">
                  <a16:creationId xmlns:a16="http://schemas.microsoft.com/office/drawing/2014/main" id="{5294143A-C171-B89D-02DF-136CB32B43C9}"/>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a:t>
              </a:r>
            </a:p>
          </p:txBody>
        </p:sp>
      </p:grpSp>
      <p:grpSp>
        <p:nvGrpSpPr>
          <p:cNvPr id="10" name="Group 10">
            <a:extLst>
              <a:ext uri="{FF2B5EF4-FFF2-40B4-BE49-F238E27FC236}">
                <a16:creationId xmlns:a16="http://schemas.microsoft.com/office/drawing/2014/main" id="{811A371D-2A07-AABC-E66C-143D37E0F12C}"/>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2F7BDC7D-6911-7D85-E73A-2061DE32440B}"/>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a:extLst>
                <a:ext uri="{FF2B5EF4-FFF2-40B4-BE49-F238E27FC236}">
                  <a16:creationId xmlns:a16="http://schemas.microsoft.com/office/drawing/2014/main" id="{6DEA2241-E6A3-8051-F424-21070A5DF29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4DD3D6A9-1C97-9943-C984-B50356BAE3FF}"/>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6BB1489C-F4F8-D62E-3AD9-3CAA028A426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a:extLst>
                <a:ext uri="{FF2B5EF4-FFF2-40B4-BE49-F238E27FC236}">
                  <a16:creationId xmlns:a16="http://schemas.microsoft.com/office/drawing/2014/main" id="{A4A64A6E-EA7C-DFF0-C280-5041CD8B135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BE5FF856-5043-C428-B45A-4C00BF9D3418}"/>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CFC7AF72-B76A-8AD8-7E70-BDE8837D6623}"/>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a:extLst>
                <a:ext uri="{FF2B5EF4-FFF2-40B4-BE49-F238E27FC236}">
                  <a16:creationId xmlns:a16="http://schemas.microsoft.com/office/drawing/2014/main" id="{F6C277EF-EDEF-0F79-B4B2-AB1B3E58301A}"/>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A32CD2C6-1D06-729E-1157-B2EAAEA172A4}"/>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A222D7EA-F7CE-B4F5-4D06-02860C5AC39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a:extLst>
                <a:ext uri="{FF2B5EF4-FFF2-40B4-BE49-F238E27FC236}">
                  <a16:creationId xmlns:a16="http://schemas.microsoft.com/office/drawing/2014/main" id="{17F695A3-7B3D-00FE-26D6-E53B473BCF16}"/>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5A8D3527-DD17-232E-3ECB-BDBFC0FF3DE7}"/>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1C3EBC87-5F86-657B-5C0D-7DFFB3C4281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a:extLst>
                <a:ext uri="{FF2B5EF4-FFF2-40B4-BE49-F238E27FC236}">
                  <a16:creationId xmlns:a16="http://schemas.microsoft.com/office/drawing/2014/main" id="{5638183B-03CC-91E5-1C67-EAD126FB6DA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8C4C8B82-0B52-9912-DBAF-71546B2F401E}"/>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371F41C0-C399-6E94-B393-623F6ED78C3D}"/>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a:extLst>
                <a:ext uri="{FF2B5EF4-FFF2-40B4-BE49-F238E27FC236}">
                  <a16:creationId xmlns:a16="http://schemas.microsoft.com/office/drawing/2014/main" id="{05375A05-CD15-FECF-CF37-72BD8B495C3C}"/>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FFA9D0CA-D989-1DF0-9CD9-7BB1BF37D00D}"/>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6D72D40E-C3C8-1774-56F7-396EA1F54637}"/>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a:extLst>
                <a:ext uri="{FF2B5EF4-FFF2-40B4-BE49-F238E27FC236}">
                  <a16:creationId xmlns:a16="http://schemas.microsoft.com/office/drawing/2014/main" id="{2A94558C-EEEF-6159-C648-7ED1F2545B1B}"/>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A8A0868D-7450-B2DC-5A6A-A607E39122E3}"/>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227C0AD0-E7DC-50B1-90B8-A6B2DA72DDA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a:extLst>
                <a:ext uri="{FF2B5EF4-FFF2-40B4-BE49-F238E27FC236}">
                  <a16:creationId xmlns:a16="http://schemas.microsoft.com/office/drawing/2014/main" id="{9B60539C-7696-ACA6-9070-BC481578187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grpSp>
        <p:nvGrpSpPr>
          <p:cNvPr id="35" name="Group 35">
            <a:extLst>
              <a:ext uri="{FF2B5EF4-FFF2-40B4-BE49-F238E27FC236}">
                <a16:creationId xmlns:a16="http://schemas.microsoft.com/office/drawing/2014/main" id="{B814A5FC-F17C-8D1A-04C8-1ED6A2AE0E65}"/>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2EC11913-1FC3-79C0-FB94-72486D9673F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a:extLst>
                <a:ext uri="{FF2B5EF4-FFF2-40B4-BE49-F238E27FC236}">
                  <a16:creationId xmlns:a16="http://schemas.microsoft.com/office/drawing/2014/main" id="{6CB89B22-25E1-321C-5A74-15CF8EBC7CA1}"/>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35C6402D-9C63-51C1-99A9-4206C0537740}"/>
              </a:ext>
            </a:extLst>
          </p:cNvPr>
          <p:cNvSpPr txBox="1"/>
          <p:nvPr/>
        </p:nvSpPr>
        <p:spPr>
          <a:xfrm>
            <a:off x="152400" y="342900"/>
            <a:ext cx="15987543"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AA47F9B5-6FF6-FD3B-E2F8-E0178E8FA81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43600" y="1366322"/>
            <a:ext cx="5653087" cy="6478437"/>
          </a:xfrm>
          <a:prstGeom prst="rect">
            <a:avLst/>
          </a:prstGeom>
        </p:spPr>
      </p:pic>
      <p:sp>
        <p:nvSpPr>
          <p:cNvPr id="41" name="Rectangle 5">
            <a:extLst>
              <a:ext uri="{FF2B5EF4-FFF2-40B4-BE49-F238E27FC236}">
                <a16:creationId xmlns:a16="http://schemas.microsoft.com/office/drawing/2014/main" id="{CB080FD0-C1A6-A679-5D3D-D27090ACF692}"/>
              </a:ext>
            </a:extLst>
          </p:cNvPr>
          <p:cNvSpPr>
            <a:spLocks noChangeArrowheads="1"/>
          </p:cNvSpPr>
          <p:nvPr/>
        </p:nvSpPr>
        <p:spPr bwMode="auto">
          <a:xfrm>
            <a:off x="1549459" y="7844760"/>
            <a:ext cx="15804800" cy="1569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457200" marR="0" lvl="0" indent="-4572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3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This screenshot shows a user login interface with fields for email address and password.</a:t>
            </a:r>
            <a:br>
              <a:rPr kumimoji="0" lang="en-US" altLang="en-US" sz="3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3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It allows users to sign in to the system or navigate to the signup page if they don’t have an account.</a:t>
            </a:r>
          </a:p>
        </p:txBody>
      </p:sp>
    </p:spTree>
    <p:extLst>
      <p:ext uri="{BB962C8B-B14F-4D97-AF65-F5344CB8AC3E}">
        <p14:creationId xmlns:p14="http://schemas.microsoft.com/office/powerpoint/2010/main" val="199810114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CF319D-58F2-DF9E-632A-90472F50FA3A}"/>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ADE101F0-A2BF-16E8-7BEC-541911EA9510}"/>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C43B1E5B-104E-DCD5-F042-8DABFE8225A3}"/>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a:extLst>
                <a:ext uri="{FF2B5EF4-FFF2-40B4-BE49-F238E27FC236}">
                  <a16:creationId xmlns:a16="http://schemas.microsoft.com/office/drawing/2014/main" id="{846A8601-B4CB-7C78-2833-947EEC356CD7}"/>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8(A)</a:t>
              </a:r>
            </a:p>
          </p:txBody>
        </p:sp>
      </p:grpSp>
      <p:grpSp>
        <p:nvGrpSpPr>
          <p:cNvPr id="10" name="Group 10">
            <a:extLst>
              <a:ext uri="{FF2B5EF4-FFF2-40B4-BE49-F238E27FC236}">
                <a16:creationId xmlns:a16="http://schemas.microsoft.com/office/drawing/2014/main" id="{1C63788E-DB35-987D-1A89-4C3F169DF70E}"/>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676646B6-C6D6-F677-3CA9-56BE5CE444AA}"/>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a:extLst>
                <a:ext uri="{FF2B5EF4-FFF2-40B4-BE49-F238E27FC236}">
                  <a16:creationId xmlns:a16="http://schemas.microsoft.com/office/drawing/2014/main" id="{3CDDAA79-D530-F622-0CC8-ECE3E95F9520}"/>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8227745F-FD1B-7135-E88E-D6B924C5CB24}"/>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79292FA3-A80E-1540-0024-754AADCDB01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a:extLst>
                <a:ext uri="{FF2B5EF4-FFF2-40B4-BE49-F238E27FC236}">
                  <a16:creationId xmlns:a16="http://schemas.microsoft.com/office/drawing/2014/main" id="{5A8C7117-591A-F089-5F54-0229077FDEA1}"/>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29278237-7990-A997-2285-EB2F5BB4EF44}"/>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F37C1434-DB0E-53EF-4140-56A0F3CD6EAB}"/>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a:extLst>
                <a:ext uri="{FF2B5EF4-FFF2-40B4-BE49-F238E27FC236}">
                  <a16:creationId xmlns:a16="http://schemas.microsoft.com/office/drawing/2014/main" id="{4FC388C1-59EC-CA17-BA41-9AF3AAD42D8B}"/>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90F65A21-E49B-9858-6EAD-EBC3142E6239}"/>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EFDE14F0-9F59-E35F-B5B7-45C77C56354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a:extLst>
                <a:ext uri="{FF2B5EF4-FFF2-40B4-BE49-F238E27FC236}">
                  <a16:creationId xmlns:a16="http://schemas.microsoft.com/office/drawing/2014/main" id="{E1181869-B448-2B7A-67F5-160B09C76D91}"/>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8B27AB66-420C-E7D0-5891-910B564CA2C2}"/>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F0605CE2-624E-D2DA-6357-65C5FA138C6C}"/>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a:extLst>
                <a:ext uri="{FF2B5EF4-FFF2-40B4-BE49-F238E27FC236}">
                  <a16:creationId xmlns:a16="http://schemas.microsoft.com/office/drawing/2014/main" id="{DA9B1286-A8A4-091B-5AF9-F0B275F703E9}"/>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127DF020-AEA7-8D57-9411-90D58D65D05B}"/>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00BA2729-D580-CF8D-87CD-EE786F2E40E1}"/>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a:extLst>
                <a:ext uri="{FF2B5EF4-FFF2-40B4-BE49-F238E27FC236}">
                  <a16:creationId xmlns:a16="http://schemas.microsoft.com/office/drawing/2014/main" id="{F0B6F8BA-7047-AE2A-DB03-E6846F9FAEAB}"/>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B5DE7324-71F9-1D79-AB1E-F97481653389}"/>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E780ED4E-44DF-E344-CCEA-834D1374F6A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a:extLst>
                <a:ext uri="{FF2B5EF4-FFF2-40B4-BE49-F238E27FC236}">
                  <a16:creationId xmlns:a16="http://schemas.microsoft.com/office/drawing/2014/main" id="{AC7D9CD8-E54E-AD67-D59B-5D4A37A1B41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E3560347-DE50-10F7-9905-7228E593D280}"/>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1B9E463A-B010-8D72-6350-7242CB0AAF56}"/>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a:extLst>
                <a:ext uri="{FF2B5EF4-FFF2-40B4-BE49-F238E27FC236}">
                  <a16:creationId xmlns:a16="http://schemas.microsoft.com/office/drawing/2014/main" id="{C15BE220-858E-1446-5B56-D3329A06A997}"/>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grpSp>
        <p:nvGrpSpPr>
          <p:cNvPr id="35" name="Group 35">
            <a:extLst>
              <a:ext uri="{FF2B5EF4-FFF2-40B4-BE49-F238E27FC236}">
                <a16:creationId xmlns:a16="http://schemas.microsoft.com/office/drawing/2014/main" id="{A36A5C58-00A3-2FE9-36E4-D92AAF44A0F5}"/>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BADF0EED-F663-F70E-9BB3-C0F576114D0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a:extLst>
                <a:ext uri="{FF2B5EF4-FFF2-40B4-BE49-F238E27FC236}">
                  <a16:creationId xmlns:a16="http://schemas.microsoft.com/office/drawing/2014/main" id="{54542349-F329-7DA6-DBD4-7EFA939B9892}"/>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B6CAD810-8433-9B89-E144-29986E25063F}"/>
              </a:ext>
            </a:extLst>
          </p:cNvPr>
          <p:cNvSpPr txBox="1"/>
          <p:nvPr/>
        </p:nvSpPr>
        <p:spPr>
          <a:xfrm>
            <a:off x="152400" y="342900"/>
            <a:ext cx="163068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30970497-1FAD-5854-9555-B1AADF024BD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562600" y="1332351"/>
            <a:ext cx="6781800" cy="6220963"/>
          </a:xfrm>
          <a:prstGeom prst="rect">
            <a:avLst/>
          </a:prstGeom>
        </p:spPr>
      </p:pic>
      <p:sp>
        <p:nvSpPr>
          <p:cNvPr id="5" name="TextBox 4">
            <a:extLst>
              <a:ext uri="{FF2B5EF4-FFF2-40B4-BE49-F238E27FC236}">
                <a16:creationId xmlns:a16="http://schemas.microsoft.com/office/drawing/2014/main" id="{3CFD2994-45AF-8690-42A5-FD569FE54E21}"/>
              </a:ext>
            </a:extLst>
          </p:cNvPr>
          <p:cNvSpPr txBox="1"/>
          <p:nvPr/>
        </p:nvSpPr>
        <p:spPr>
          <a:xfrm>
            <a:off x="2197369" y="7816748"/>
            <a:ext cx="15683739" cy="1569660"/>
          </a:xfrm>
          <a:prstGeom prst="rect">
            <a:avLst/>
          </a:prstGeom>
          <a:noFill/>
        </p:spPr>
        <p:txBody>
          <a:bodyPr wrap="square">
            <a:spAutoFit/>
          </a:bodyPr>
          <a:lstStyle/>
          <a:p>
            <a:pPr marL="457200" indent="-457200" algn="just">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This screenshot shows a </a:t>
            </a:r>
            <a:r>
              <a:rPr lang="en-US" sz="3200" b="1" dirty="0">
                <a:latin typeface="Times New Roman" panose="02020603050405020304" pitchFamily="18" charset="0"/>
                <a:cs typeface="Times New Roman" panose="02020603050405020304" pitchFamily="18" charset="0"/>
              </a:rPr>
              <a:t>user registration (Create Account) page</a:t>
            </a:r>
            <a:r>
              <a:rPr lang="en-US" sz="3200" dirty="0">
                <a:latin typeface="Times New Roman" panose="02020603050405020304" pitchFamily="18" charset="0"/>
                <a:cs typeface="Times New Roman" panose="02020603050405020304" pitchFamily="18" charset="0"/>
              </a:rPr>
              <a:t> with fields for username, email, and </a:t>
            </a:r>
            <a:r>
              <a:rPr lang="en-US" sz="3200" dirty="0" err="1">
                <a:latin typeface="Times New Roman" panose="02020603050405020304" pitchFamily="18" charset="0"/>
                <a:cs typeface="Times New Roman" panose="02020603050405020304" pitchFamily="18" charset="0"/>
              </a:rPr>
              <a:t>password.It</a:t>
            </a:r>
            <a:r>
              <a:rPr lang="en-US" sz="3200" dirty="0">
                <a:latin typeface="Times New Roman" panose="02020603050405020304" pitchFamily="18" charset="0"/>
                <a:cs typeface="Times New Roman" panose="02020603050405020304" pitchFamily="18" charset="0"/>
              </a:rPr>
              <a:t> displays a success message indicating the account has been created and the system is redirecting the user.</a:t>
            </a:r>
            <a:endParaRPr lang="en-IN"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8118739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F4F051-5473-4E78-FEB2-59A87A5FBB9B}"/>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66BE183E-F015-FFD4-5C84-C25B4DCE490A}"/>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3AEC1772-D597-ACC7-7EF1-FF0460F37AA7}"/>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a:extLst>
                <a:ext uri="{FF2B5EF4-FFF2-40B4-BE49-F238E27FC236}">
                  <a16:creationId xmlns:a16="http://schemas.microsoft.com/office/drawing/2014/main" id="{46839344-8B05-5C56-F0B1-64E24F458991}"/>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8(B)</a:t>
              </a:r>
            </a:p>
          </p:txBody>
        </p:sp>
      </p:grpSp>
      <p:grpSp>
        <p:nvGrpSpPr>
          <p:cNvPr id="10" name="Group 10">
            <a:extLst>
              <a:ext uri="{FF2B5EF4-FFF2-40B4-BE49-F238E27FC236}">
                <a16:creationId xmlns:a16="http://schemas.microsoft.com/office/drawing/2014/main" id="{23B54700-9ABF-8EDD-8B21-24A9248C534D}"/>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B99246F8-F6B5-2F2E-2FB4-FAE1DD41DCC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a:extLst>
                <a:ext uri="{FF2B5EF4-FFF2-40B4-BE49-F238E27FC236}">
                  <a16:creationId xmlns:a16="http://schemas.microsoft.com/office/drawing/2014/main" id="{B7CDDD7B-8A9B-223F-951A-473D0C9404F3}"/>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B3E1A8FC-D0F1-BD05-9C14-C10EAE95E57E}"/>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CEB5FB4E-3BF3-BC6A-6692-FE375141E45D}"/>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a:extLst>
                <a:ext uri="{FF2B5EF4-FFF2-40B4-BE49-F238E27FC236}">
                  <a16:creationId xmlns:a16="http://schemas.microsoft.com/office/drawing/2014/main" id="{38F8F103-F0A5-8F95-A139-8DBEBEF19C2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8C558648-2D59-16EB-3098-EAF5DE978B1F}"/>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B168779D-5467-4E78-AD1E-36B5A75A347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a:extLst>
                <a:ext uri="{FF2B5EF4-FFF2-40B4-BE49-F238E27FC236}">
                  <a16:creationId xmlns:a16="http://schemas.microsoft.com/office/drawing/2014/main" id="{8AFC0BB4-20A4-849D-A1E4-FA90A8DDCC7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700D33AC-D53D-0E96-8752-E5DA06AE57A5}"/>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14DABAFB-38B3-CE49-B21D-A496D7EC2A6E}"/>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a:extLst>
                <a:ext uri="{FF2B5EF4-FFF2-40B4-BE49-F238E27FC236}">
                  <a16:creationId xmlns:a16="http://schemas.microsoft.com/office/drawing/2014/main" id="{BE27A610-3BC0-BFBC-2A61-4C157B024EF0}"/>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6C0E28B4-531C-D2E1-F3C9-B5A98A28B69D}"/>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6C193347-3923-7F1F-A580-A7462B158EC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a:extLst>
                <a:ext uri="{FF2B5EF4-FFF2-40B4-BE49-F238E27FC236}">
                  <a16:creationId xmlns:a16="http://schemas.microsoft.com/office/drawing/2014/main" id="{C5DDC20D-7BD0-E255-26F1-86A88AF67CF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9DBB21A1-CAFF-686E-D181-980219283F79}"/>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5531A9C5-B561-53EA-BF9A-3BE6A607C1BF}"/>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a:extLst>
                <a:ext uri="{FF2B5EF4-FFF2-40B4-BE49-F238E27FC236}">
                  <a16:creationId xmlns:a16="http://schemas.microsoft.com/office/drawing/2014/main" id="{D8870C21-3327-4D63-FD34-36BC4799675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4D7C3EBE-FA20-7E4C-13DD-84F1A98618F6}"/>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C1E3AE62-1B2B-FE1E-010C-A26C4F613A6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a:extLst>
                <a:ext uri="{FF2B5EF4-FFF2-40B4-BE49-F238E27FC236}">
                  <a16:creationId xmlns:a16="http://schemas.microsoft.com/office/drawing/2014/main" id="{CDA04BD5-C99C-980C-6593-EDEA378D6C3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E77207A6-9552-432B-0793-EB6A88EE3C10}"/>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27447A1E-BA0C-26C0-C743-E590A55A653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a:extLst>
                <a:ext uri="{FF2B5EF4-FFF2-40B4-BE49-F238E27FC236}">
                  <a16:creationId xmlns:a16="http://schemas.microsoft.com/office/drawing/2014/main" id="{8D425BCC-6A0F-30CB-18E7-D1E21E871D9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grpSp>
        <p:nvGrpSpPr>
          <p:cNvPr id="35" name="Group 35">
            <a:extLst>
              <a:ext uri="{FF2B5EF4-FFF2-40B4-BE49-F238E27FC236}">
                <a16:creationId xmlns:a16="http://schemas.microsoft.com/office/drawing/2014/main" id="{C7CF20EF-980A-2D88-E968-DCB5B8BC6CF8}"/>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A7A686B7-4E4C-A5FA-60CD-A6EFF9DEAD82}"/>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a:extLst>
                <a:ext uri="{FF2B5EF4-FFF2-40B4-BE49-F238E27FC236}">
                  <a16:creationId xmlns:a16="http://schemas.microsoft.com/office/drawing/2014/main" id="{3ECD8D52-6368-578C-BEB2-0B1BA37FD45D}"/>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638323CF-7DCB-075F-B739-0F88472F060D}"/>
              </a:ext>
            </a:extLst>
          </p:cNvPr>
          <p:cNvSpPr txBox="1"/>
          <p:nvPr/>
        </p:nvSpPr>
        <p:spPr>
          <a:xfrm>
            <a:off x="152400" y="342900"/>
            <a:ext cx="16306799"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6C0EA81E-D408-1A06-6895-1BF3CA09E497}"/>
              </a:ext>
            </a:extLst>
          </p:cNvPr>
          <p:cNvSpPr txBox="1"/>
          <p:nvPr/>
        </p:nvSpPr>
        <p:spPr>
          <a:xfrm>
            <a:off x="2264133" y="1600443"/>
            <a:ext cx="5257800" cy="4832092"/>
          </a:xfrm>
          <a:prstGeom prst="rect">
            <a:avLst/>
          </a:prstGeom>
          <a:noFill/>
        </p:spPr>
        <p:txBody>
          <a:bodyPr wrap="square" rtlCol="0">
            <a:spAutoFit/>
          </a:bodyPr>
          <a:lstStyle/>
          <a:p>
            <a:pPr marL="457200" indent="-457200">
              <a:buFontTx/>
              <a:buChar char="-"/>
            </a:pPr>
            <a:endParaRPr lang="en-US" sz="2800" dirty="0"/>
          </a:p>
          <a:p>
            <a:pPr marL="457200" indent="-457200">
              <a:buFontTx/>
              <a:buChar char="-"/>
            </a:pPr>
            <a:endParaRPr lang="en-US" sz="2800" dirty="0"/>
          </a:p>
          <a:p>
            <a:pPr marL="457200" indent="-457200">
              <a:buFontTx/>
              <a:buChar char="-"/>
            </a:pPr>
            <a:r>
              <a:rPr lang="en-US" sz="2800" dirty="0"/>
              <a:t>Admin Login Page</a:t>
            </a:r>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
        <p:nvSpPr>
          <p:cNvPr id="2" name="TextBox 1">
            <a:extLst>
              <a:ext uri="{FF2B5EF4-FFF2-40B4-BE49-F238E27FC236}">
                <a16:creationId xmlns:a16="http://schemas.microsoft.com/office/drawing/2014/main" id="{8C669F5E-D683-06DA-6F1A-B1A71266369B}"/>
              </a:ext>
            </a:extLst>
          </p:cNvPr>
          <p:cNvSpPr txBox="1"/>
          <p:nvPr/>
        </p:nvSpPr>
        <p:spPr>
          <a:xfrm>
            <a:off x="11441822" y="1697977"/>
            <a:ext cx="5257800" cy="4832092"/>
          </a:xfrm>
          <a:prstGeom prst="rect">
            <a:avLst/>
          </a:prstGeom>
          <a:noFill/>
        </p:spPr>
        <p:txBody>
          <a:bodyPr wrap="square" rtlCol="0">
            <a:spAutoFit/>
          </a:bodyPr>
          <a:lstStyle/>
          <a:p>
            <a:pPr marL="457200" indent="-457200">
              <a:buFontTx/>
              <a:buChar char="-"/>
            </a:pPr>
            <a:endParaRPr lang="en-US" sz="2800" dirty="0"/>
          </a:p>
          <a:p>
            <a:pPr marL="457200" indent="-457200">
              <a:buFontTx/>
              <a:buChar char="-"/>
            </a:pPr>
            <a:endParaRPr lang="en-US" sz="2800" dirty="0"/>
          </a:p>
          <a:p>
            <a:pPr marL="457200" indent="-457200">
              <a:buFontTx/>
              <a:buChar char="-"/>
            </a:pPr>
            <a:r>
              <a:rPr lang="en-US" sz="2800" dirty="0"/>
              <a:t>User Login Page</a:t>
            </a:r>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cxnSp>
        <p:nvCxnSpPr>
          <p:cNvPr id="5" name="Straight Connector 4">
            <a:extLst>
              <a:ext uri="{FF2B5EF4-FFF2-40B4-BE49-F238E27FC236}">
                <a16:creationId xmlns:a16="http://schemas.microsoft.com/office/drawing/2014/main" id="{5E692DFD-6E98-89D6-2A9C-89F636006C8F}"/>
              </a:ext>
            </a:extLst>
          </p:cNvPr>
          <p:cNvCxnSpPr/>
          <p:nvPr/>
        </p:nvCxnSpPr>
        <p:spPr>
          <a:xfrm>
            <a:off x="9448800" y="1697977"/>
            <a:ext cx="0" cy="7484123"/>
          </a:xfrm>
          <a:prstGeom prst="line">
            <a:avLst/>
          </a:prstGeom>
        </p:spPr>
        <p:style>
          <a:lnRef idx="1">
            <a:schemeClr val="accent1"/>
          </a:lnRef>
          <a:fillRef idx="0">
            <a:schemeClr val="accent1"/>
          </a:fillRef>
          <a:effectRef idx="0">
            <a:schemeClr val="accent1"/>
          </a:effectRef>
          <a:fontRef idx="minor">
            <a:schemeClr val="tx1"/>
          </a:fontRef>
        </p:style>
      </p:cxnSp>
      <p:pic>
        <p:nvPicPr>
          <p:cNvPr id="4" name="Picture 3">
            <a:extLst>
              <a:ext uri="{FF2B5EF4-FFF2-40B4-BE49-F238E27FC236}">
                <a16:creationId xmlns:a16="http://schemas.microsoft.com/office/drawing/2014/main" id="{847F3173-E448-A769-2FA4-A0D71F1F9B0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58175" y="1953887"/>
            <a:ext cx="6291136" cy="7058025"/>
          </a:xfrm>
          <a:prstGeom prst="rect">
            <a:avLst/>
          </a:prstGeom>
        </p:spPr>
      </p:pic>
      <p:pic>
        <p:nvPicPr>
          <p:cNvPr id="34" name="Picture 33">
            <a:extLst>
              <a:ext uri="{FF2B5EF4-FFF2-40B4-BE49-F238E27FC236}">
                <a16:creationId xmlns:a16="http://schemas.microsoft.com/office/drawing/2014/main" id="{BC7B244C-080C-CF99-42AB-79A2988A4DD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48290" y="1953887"/>
            <a:ext cx="5918616" cy="6972300"/>
          </a:xfrm>
          <a:prstGeom prst="rect">
            <a:avLst/>
          </a:prstGeom>
        </p:spPr>
      </p:pic>
      <p:sp>
        <p:nvSpPr>
          <p:cNvPr id="40" name="TextBox 39">
            <a:extLst>
              <a:ext uri="{FF2B5EF4-FFF2-40B4-BE49-F238E27FC236}">
                <a16:creationId xmlns:a16="http://schemas.microsoft.com/office/drawing/2014/main" id="{E3F6F380-C9CA-9DA1-4F2E-251C42295170}"/>
              </a:ext>
            </a:extLst>
          </p:cNvPr>
          <p:cNvSpPr txBox="1"/>
          <p:nvPr/>
        </p:nvSpPr>
        <p:spPr>
          <a:xfrm>
            <a:off x="3521545" y="9145966"/>
            <a:ext cx="3810000" cy="584775"/>
          </a:xfrm>
          <a:prstGeom prst="rect">
            <a:avLst/>
          </a:prstGeom>
          <a:noFill/>
        </p:spPr>
        <p:txBody>
          <a:bodyPr wrap="square" rtlCol="0">
            <a:spAutoFit/>
          </a:bodyPr>
          <a:lstStyle/>
          <a:p>
            <a:r>
              <a:rPr lang="en-US" sz="3200" dirty="0">
                <a:latin typeface="Times New Roman" panose="02020603050405020304" pitchFamily="18" charset="0"/>
                <a:cs typeface="Times New Roman" panose="02020603050405020304" pitchFamily="18" charset="0"/>
              </a:rPr>
              <a:t>User login page</a:t>
            </a:r>
            <a:endParaRPr lang="en-IN" sz="3200" dirty="0">
              <a:latin typeface="Times New Roman" panose="02020603050405020304" pitchFamily="18" charset="0"/>
              <a:cs typeface="Times New Roman" panose="02020603050405020304" pitchFamily="18" charset="0"/>
            </a:endParaRPr>
          </a:p>
        </p:txBody>
      </p:sp>
      <p:sp>
        <p:nvSpPr>
          <p:cNvPr id="41" name="TextBox 40">
            <a:extLst>
              <a:ext uri="{FF2B5EF4-FFF2-40B4-BE49-F238E27FC236}">
                <a16:creationId xmlns:a16="http://schemas.microsoft.com/office/drawing/2014/main" id="{94CDEB0F-5E41-04F8-2E53-53668E0CE49E}"/>
              </a:ext>
            </a:extLst>
          </p:cNvPr>
          <p:cNvSpPr txBox="1"/>
          <p:nvPr/>
        </p:nvSpPr>
        <p:spPr>
          <a:xfrm>
            <a:off x="11907399" y="9011912"/>
            <a:ext cx="3200398" cy="584775"/>
          </a:xfrm>
          <a:prstGeom prst="rect">
            <a:avLst/>
          </a:prstGeom>
          <a:noFill/>
        </p:spPr>
        <p:txBody>
          <a:bodyPr wrap="square" rtlCol="0">
            <a:spAutoFit/>
          </a:bodyPr>
          <a:lstStyle/>
          <a:p>
            <a:r>
              <a:rPr lang="en-US" sz="3200" dirty="0">
                <a:latin typeface="Times New Roman" panose="02020603050405020304" pitchFamily="18" charset="0"/>
                <a:cs typeface="Times New Roman" panose="02020603050405020304" pitchFamily="18" charset="0"/>
              </a:rPr>
              <a:t>Admin login page</a:t>
            </a:r>
            <a:endParaRPr lang="en-IN"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754482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52AA6E-1A8C-A42D-344E-C811AB58A618}"/>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EB7F1E1F-336A-607D-2868-6C57FF54EB44}"/>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63528BA9-EE0E-A6F8-4A8C-6DFC964B206C}"/>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a:extLst>
                <a:ext uri="{FF2B5EF4-FFF2-40B4-BE49-F238E27FC236}">
                  <a16:creationId xmlns:a16="http://schemas.microsoft.com/office/drawing/2014/main" id="{6E25C449-B344-E643-12F7-C89DEE4255EA}"/>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8(C)</a:t>
              </a:r>
            </a:p>
          </p:txBody>
        </p:sp>
      </p:grpSp>
      <p:grpSp>
        <p:nvGrpSpPr>
          <p:cNvPr id="10" name="Group 10">
            <a:extLst>
              <a:ext uri="{FF2B5EF4-FFF2-40B4-BE49-F238E27FC236}">
                <a16:creationId xmlns:a16="http://schemas.microsoft.com/office/drawing/2014/main" id="{4C22D2BC-F5CA-423B-6FD6-94172693045D}"/>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F6670B32-1168-757A-3D40-FDD55687DCFD}"/>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a:extLst>
                <a:ext uri="{FF2B5EF4-FFF2-40B4-BE49-F238E27FC236}">
                  <a16:creationId xmlns:a16="http://schemas.microsoft.com/office/drawing/2014/main" id="{0D3BB7FD-57C6-C09A-D875-135D505A8E14}"/>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067A86AC-A2D1-3F33-5857-9F69983F71BB}"/>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D9EADC3C-D136-0700-9300-4D8E867EC531}"/>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a:extLst>
                <a:ext uri="{FF2B5EF4-FFF2-40B4-BE49-F238E27FC236}">
                  <a16:creationId xmlns:a16="http://schemas.microsoft.com/office/drawing/2014/main" id="{A8EAD5F3-3FC4-819A-6ECD-0BC55C92A2B3}"/>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1671F77B-B3A5-F8B6-AC67-6EF88CA95877}"/>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1303025A-EF3E-710E-2DBD-D89F29B84993}"/>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a:extLst>
                <a:ext uri="{FF2B5EF4-FFF2-40B4-BE49-F238E27FC236}">
                  <a16:creationId xmlns:a16="http://schemas.microsoft.com/office/drawing/2014/main" id="{76E7D281-CC96-92C2-C2F7-583674F0609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E0D02FED-C5F4-9CC7-F1F5-E75E542840A9}"/>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384D1E33-434F-2FA0-56CC-F24058D8639C}"/>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a:extLst>
                <a:ext uri="{FF2B5EF4-FFF2-40B4-BE49-F238E27FC236}">
                  <a16:creationId xmlns:a16="http://schemas.microsoft.com/office/drawing/2014/main" id="{F2FC0DCA-FB2A-610C-A8DB-76CE251A57D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4CA1DB61-05A2-042F-9815-00DBC40D0556}"/>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67E4E958-360B-28EF-052B-EDDBDD5F40F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a:extLst>
                <a:ext uri="{FF2B5EF4-FFF2-40B4-BE49-F238E27FC236}">
                  <a16:creationId xmlns:a16="http://schemas.microsoft.com/office/drawing/2014/main" id="{BEDBF5CC-2720-E821-001C-11BCB7273E26}"/>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6B96629A-6996-B0D7-13D6-0FA011422666}"/>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912F1ED8-E3AD-E90A-10CE-D50A8F7D91A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a:extLst>
                <a:ext uri="{FF2B5EF4-FFF2-40B4-BE49-F238E27FC236}">
                  <a16:creationId xmlns:a16="http://schemas.microsoft.com/office/drawing/2014/main" id="{00E45F23-6E8F-F601-2EB3-537A898E7044}"/>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A40D6715-3580-0B1B-2305-C7ED6083AE85}"/>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11A59530-4B7F-6C6B-290E-578EA30200D0}"/>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a:extLst>
                <a:ext uri="{FF2B5EF4-FFF2-40B4-BE49-F238E27FC236}">
                  <a16:creationId xmlns:a16="http://schemas.microsoft.com/office/drawing/2014/main" id="{9BDCE736-251A-5B70-853E-A0A9A174F361}"/>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8249BDCF-E07B-269B-D039-A4360C0FE2B4}"/>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6F6B04FD-3FAC-90A2-4C1A-D809D058C0A9}"/>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a:extLst>
                <a:ext uri="{FF2B5EF4-FFF2-40B4-BE49-F238E27FC236}">
                  <a16:creationId xmlns:a16="http://schemas.microsoft.com/office/drawing/2014/main" id="{BEE5C092-697C-26F6-D6E0-477F151E7CAE}"/>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3" name="TextBox 42">
            <a:extLst>
              <a:ext uri="{FF2B5EF4-FFF2-40B4-BE49-F238E27FC236}">
                <a16:creationId xmlns:a16="http://schemas.microsoft.com/office/drawing/2014/main" id="{9B953180-DB27-F046-86E3-E3508247B406}"/>
              </a:ext>
            </a:extLst>
          </p:cNvPr>
          <p:cNvSpPr txBox="1"/>
          <p:nvPr/>
        </p:nvSpPr>
        <p:spPr>
          <a:xfrm>
            <a:off x="1231819" y="371374"/>
            <a:ext cx="157734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69993785-F825-DB0E-17AA-9BB919A5795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05199" y="1261381"/>
            <a:ext cx="11582401" cy="6291933"/>
          </a:xfrm>
          <a:prstGeom prst="rect">
            <a:avLst/>
          </a:prstGeom>
        </p:spPr>
      </p:pic>
      <p:sp>
        <p:nvSpPr>
          <p:cNvPr id="5" name="TextBox 4">
            <a:extLst>
              <a:ext uri="{FF2B5EF4-FFF2-40B4-BE49-F238E27FC236}">
                <a16:creationId xmlns:a16="http://schemas.microsoft.com/office/drawing/2014/main" id="{9156DA31-9411-3F1C-1809-08EC0F037AB8}"/>
              </a:ext>
            </a:extLst>
          </p:cNvPr>
          <p:cNvSpPr txBox="1"/>
          <p:nvPr/>
        </p:nvSpPr>
        <p:spPr>
          <a:xfrm>
            <a:off x="3351582" y="17293798"/>
            <a:ext cx="17242839" cy="1153805"/>
          </a:xfrm>
          <a:prstGeom prst="rect">
            <a:avLst/>
          </a:prstGeom>
          <a:noFill/>
        </p:spPr>
        <p:txBody>
          <a:bodyPr wrap="square" rtlCol="0">
            <a:spAutoFit/>
          </a:bodyPr>
          <a:lstStyle/>
          <a:p>
            <a:endParaRPr lang="en-IN" dirty="0"/>
          </a:p>
        </p:txBody>
      </p:sp>
      <p:sp>
        <p:nvSpPr>
          <p:cNvPr id="6" name="Rectangle 1">
            <a:extLst>
              <a:ext uri="{FF2B5EF4-FFF2-40B4-BE49-F238E27FC236}">
                <a16:creationId xmlns:a16="http://schemas.microsoft.com/office/drawing/2014/main" id="{DA8F7E6D-EF94-CB75-322F-B7D6EE612733}"/>
              </a:ext>
            </a:extLst>
          </p:cNvPr>
          <p:cNvSpPr>
            <a:spLocks noChangeArrowheads="1"/>
          </p:cNvSpPr>
          <p:nvPr/>
        </p:nvSpPr>
        <p:spPr bwMode="auto">
          <a:xfrm>
            <a:off x="1981200" y="7800533"/>
            <a:ext cx="16068447" cy="1569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457200" marR="0" lvl="0" indent="-457200"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3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This screenshot shows the </a:t>
            </a:r>
            <a:r>
              <a:rPr kumimoji="0" lang="en-US" altLang="en-US" sz="3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Booking dashboard</a:t>
            </a:r>
            <a:r>
              <a:rPr kumimoji="0" lang="en-US" altLang="en-US" sz="3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where users can search and book buses by entering source, destination, and travel </a:t>
            </a:r>
            <a:r>
              <a:rPr kumimoji="0" lang="en-US" altLang="en-US" sz="32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date.It</a:t>
            </a:r>
            <a:r>
              <a:rPr kumimoji="0" lang="en-US" altLang="en-US" sz="3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also displays an automatically calculated price and provides a button to search available buses for booking.</a:t>
            </a:r>
          </a:p>
        </p:txBody>
      </p:sp>
    </p:spTree>
    <p:extLst>
      <p:ext uri="{BB962C8B-B14F-4D97-AF65-F5344CB8AC3E}">
        <p14:creationId xmlns:p14="http://schemas.microsoft.com/office/powerpoint/2010/main" val="8488995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3ADB03-5949-76CF-730D-FE5AC6B020DA}"/>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0341F564-4633-428C-1F61-C503FD5273F1}"/>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E1FA13A8-928A-9F16-48B2-4EDC4C148B04}"/>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a:extLst>
                <a:ext uri="{FF2B5EF4-FFF2-40B4-BE49-F238E27FC236}">
                  <a16:creationId xmlns:a16="http://schemas.microsoft.com/office/drawing/2014/main" id="{23C684A6-1477-B610-0A9F-CDE5A866C9C7}"/>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8(C)</a:t>
              </a:r>
            </a:p>
          </p:txBody>
        </p:sp>
      </p:grpSp>
      <p:grpSp>
        <p:nvGrpSpPr>
          <p:cNvPr id="10" name="Group 10">
            <a:extLst>
              <a:ext uri="{FF2B5EF4-FFF2-40B4-BE49-F238E27FC236}">
                <a16:creationId xmlns:a16="http://schemas.microsoft.com/office/drawing/2014/main" id="{6BFD91F5-CD9A-E8BA-7FF7-B828C51DBDAA}"/>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B1D3B593-5A0E-46DF-756F-9A6B7242137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a:extLst>
                <a:ext uri="{FF2B5EF4-FFF2-40B4-BE49-F238E27FC236}">
                  <a16:creationId xmlns:a16="http://schemas.microsoft.com/office/drawing/2014/main" id="{C946D6BE-BC77-E9AB-16E6-CEAE4EC0386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B9330135-71E2-ADA0-7F41-06E42DB5D58F}"/>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BFA87DBC-CC89-B390-A600-F2BCC5965AD9}"/>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a:extLst>
                <a:ext uri="{FF2B5EF4-FFF2-40B4-BE49-F238E27FC236}">
                  <a16:creationId xmlns:a16="http://schemas.microsoft.com/office/drawing/2014/main" id="{ECA32750-0933-E1A1-02FD-38092240BB63}"/>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6C689BC3-874A-43DE-7ADA-76D7D45F17BE}"/>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3AAAE51B-4974-D365-CB1C-3417B949CB4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a:extLst>
                <a:ext uri="{FF2B5EF4-FFF2-40B4-BE49-F238E27FC236}">
                  <a16:creationId xmlns:a16="http://schemas.microsoft.com/office/drawing/2014/main" id="{9D04FC35-9F18-F798-684B-6BBE67C47019}"/>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5670C5D5-4C3F-1D22-E9E5-0681D9C0FF3F}"/>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CDB16E9D-BC44-D564-5FDF-928384F97CD1}"/>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a:extLst>
                <a:ext uri="{FF2B5EF4-FFF2-40B4-BE49-F238E27FC236}">
                  <a16:creationId xmlns:a16="http://schemas.microsoft.com/office/drawing/2014/main" id="{CB15F0F5-9239-83CF-3B8C-609163E6FF07}"/>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80567A03-29B2-4F9E-E631-36FE41FB4BC1}"/>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3A0904EA-F016-AFDC-A93E-B4FBF8DF5ECD}"/>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a:extLst>
                <a:ext uri="{FF2B5EF4-FFF2-40B4-BE49-F238E27FC236}">
                  <a16:creationId xmlns:a16="http://schemas.microsoft.com/office/drawing/2014/main" id="{1D2E5C0B-6A56-6C5E-3BFF-5914EABDA1A6}"/>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C49E1BF9-01E4-4D78-0B81-1515246F3BDF}"/>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7A615322-55A4-6B71-EFFE-393EDD590EAE}"/>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a:extLst>
                <a:ext uri="{FF2B5EF4-FFF2-40B4-BE49-F238E27FC236}">
                  <a16:creationId xmlns:a16="http://schemas.microsoft.com/office/drawing/2014/main" id="{89A62FE6-6F7A-31CB-33FC-4089D50C8E87}"/>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9E5E3F7C-D94E-AEED-EB88-5EF146652DE9}"/>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1F97EDCC-00E9-DB52-74AC-0D01F0EF6339}"/>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a:extLst>
                <a:ext uri="{FF2B5EF4-FFF2-40B4-BE49-F238E27FC236}">
                  <a16:creationId xmlns:a16="http://schemas.microsoft.com/office/drawing/2014/main" id="{487E87BA-4DFA-76C8-6EE6-6878BA06A52F}"/>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2C2200B9-01A2-94A2-1F5B-1D6A25073A7A}"/>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3926722E-12F6-5180-2638-ACFB885B5AAD}"/>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a:extLst>
                <a:ext uri="{FF2B5EF4-FFF2-40B4-BE49-F238E27FC236}">
                  <a16:creationId xmlns:a16="http://schemas.microsoft.com/office/drawing/2014/main" id="{8EC42E6E-8AD6-04E2-8BD4-7FBD7CBDD24C}"/>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3" name="TextBox 42">
            <a:extLst>
              <a:ext uri="{FF2B5EF4-FFF2-40B4-BE49-F238E27FC236}">
                <a16:creationId xmlns:a16="http://schemas.microsoft.com/office/drawing/2014/main" id="{91063915-37FA-F966-5F01-81884DC752A6}"/>
              </a:ext>
            </a:extLst>
          </p:cNvPr>
          <p:cNvSpPr txBox="1"/>
          <p:nvPr/>
        </p:nvSpPr>
        <p:spPr>
          <a:xfrm>
            <a:off x="152400" y="342900"/>
            <a:ext cx="15987543"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442051EF-BCD0-491C-2351-0C381CC19775}"/>
              </a:ext>
            </a:extLst>
          </p:cNvPr>
          <p:cNvSpPr txBox="1"/>
          <p:nvPr/>
        </p:nvSpPr>
        <p:spPr>
          <a:xfrm>
            <a:off x="2209800" y="1638300"/>
            <a:ext cx="15082325" cy="5262979"/>
          </a:xfrm>
          <a:prstGeom prst="rect">
            <a:avLst/>
          </a:prstGeom>
          <a:noFill/>
        </p:spPr>
        <p:txBody>
          <a:bodyPr wrap="square" rtlCol="0">
            <a:spAutoFit/>
          </a:bodyPr>
          <a:lstStyle/>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4" name="Picture 3">
            <a:extLst>
              <a:ext uri="{FF2B5EF4-FFF2-40B4-BE49-F238E27FC236}">
                <a16:creationId xmlns:a16="http://schemas.microsoft.com/office/drawing/2014/main" id="{0F7DA062-5EFB-AEC7-CA48-ED389521390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79281" y="1698252"/>
            <a:ext cx="13674239" cy="6095709"/>
          </a:xfrm>
          <a:prstGeom prst="rect">
            <a:avLst/>
          </a:prstGeom>
        </p:spPr>
      </p:pic>
      <p:sp>
        <p:nvSpPr>
          <p:cNvPr id="6" name="TextBox 5">
            <a:extLst>
              <a:ext uri="{FF2B5EF4-FFF2-40B4-BE49-F238E27FC236}">
                <a16:creationId xmlns:a16="http://schemas.microsoft.com/office/drawing/2014/main" id="{F6DA6FB7-4836-1E0C-5676-84620E5232C3}"/>
              </a:ext>
            </a:extLst>
          </p:cNvPr>
          <p:cNvSpPr txBox="1"/>
          <p:nvPr/>
        </p:nvSpPr>
        <p:spPr>
          <a:xfrm>
            <a:off x="1929269" y="8032748"/>
            <a:ext cx="14210674" cy="1569660"/>
          </a:xfrm>
          <a:prstGeom prst="rect">
            <a:avLst/>
          </a:prstGeom>
          <a:noFill/>
        </p:spPr>
        <p:txBody>
          <a:bodyPr wrap="square">
            <a:spAutoFit/>
          </a:bodyPr>
          <a:lstStyle/>
          <a:p>
            <a:pPr marL="457200" indent="-457200">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Users can search for available buses by entering source, destination, and travel </a:t>
            </a:r>
            <a:r>
              <a:rPr lang="en-US" sz="3200" dirty="0" err="1">
                <a:latin typeface="Times New Roman" panose="02020603050405020304" pitchFamily="18" charset="0"/>
                <a:cs typeface="Times New Roman" panose="02020603050405020304" pitchFamily="18" charset="0"/>
              </a:rPr>
              <a:t>date.The</a:t>
            </a:r>
            <a:r>
              <a:rPr lang="en-US" sz="3200" dirty="0">
                <a:latin typeface="Times New Roman" panose="02020603050405020304" pitchFamily="18" charset="0"/>
                <a:cs typeface="Times New Roman" panose="02020603050405020304" pitchFamily="18" charset="0"/>
              </a:rPr>
              <a:t> system automatically calculates and displays the estimated ticket cost based on the selected route.</a:t>
            </a:r>
            <a:endParaRPr lang="en-IN"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1520734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E31A08-FC7E-E512-85E3-5A8DF3EBA1EA}"/>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0BB2DCE9-09B2-3827-0C54-7250AFB7359C}"/>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92DCF036-D101-249B-C54F-D58E4E597AB6}"/>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a:extLst>
                <a:ext uri="{FF2B5EF4-FFF2-40B4-BE49-F238E27FC236}">
                  <a16:creationId xmlns:a16="http://schemas.microsoft.com/office/drawing/2014/main" id="{8D1170D6-06BB-DFFF-2477-50FD484405A4}"/>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8(C)</a:t>
              </a:r>
            </a:p>
          </p:txBody>
        </p:sp>
      </p:grpSp>
      <p:grpSp>
        <p:nvGrpSpPr>
          <p:cNvPr id="10" name="Group 10">
            <a:extLst>
              <a:ext uri="{FF2B5EF4-FFF2-40B4-BE49-F238E27FC236}">
                <a16:creationId xmlns:a16="http://schemas.microsoft.com/office/drawing/2014/main" id="{3785E3DA-43D7-6E2B-749D-244B47A44AF5}"/>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F1087445-13BC-A3C2-4EAB-172A2DFF827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a:extLst>
                <a:ext uri="{FF2B5EF4-FFF2-40B4-BE49-F238E27FC236}">
                  <a16:creationId xmlns:a16="http://schemas.microsoft.com/office/drawing/2014/main" id="{3D6BC875-4EF7-1E48-E27F-CD2CB9084C96}"/>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9A246BAE-7768-85A5-769E-DD4E0EC948CC}"/>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DD5386C6-D378-1F86-3A74-665CAF7093C3}"/>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a:extLst>
                <a:ext uri="{FF2B5EF4-FFF2-40B4-BE49-F238E27FC236}">
                  <a16:creationId xmlns:a16="http://schemas.microsoft.com/office/drawing/2014/main" id="{5388E6EA-CC2C-1138-B38D-334C1FAC6763}"/>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4FAEF74E-26CF-34A1-C455-EACB215CD50D}"/>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8D273E81-3F09-3E12-65AB-91ACBC666CEF}"/>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a:extLst>
                <a:ext uri="{FF2B5EF4-FFF2-40B4-BE49-F238E27FC236}">
                  <a16:creationId xmlns:a16="http://schemas.microsoft.com/office/drawing/2014/main" id="{50AFF68D-04DA-05F5-EEFC-F8696BEA8B6C}"/>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91E02272-B02D-8927-8DE9-30A71B1B5C03}"/>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D15D95B6-3A29-FC02-EB48-9FEF5DF2BE2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a:extLst>
                <a:ext uri="{FF2B5EF4-FFF2-40B4-BE49-F238E27FC236}">
                  <a16:creationId xmlns:a16="http://schemas.microsoft.com/office/drawing/2014/main" id="{7EE3B5F9-3E74-DB4B-8449-14B55FBC13D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379B76B1-565E-D6B4-A58D-F5B455AB933C}"/>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802AF821-05F9-F6C8-352E-991A3B7F5306}"/>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a:extLst>
                <a:ext uri="{FF2B5EF4-FFF2-40B4-BE49-F238E27FC236}">
                  <a16:creationId xmlns:a16="http://schemas.microsoft.com/office/drawing/2014/main" id="{B17ECA61-F265-684D-5BC5-25BD519341DE}"/>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8249936D-46DB-340A-ADF8-78F415479855}"/>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A2C15C50-2FF6-0A35-9919-1804313CC71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a:extLst>
                <a:ext uri="{FF2B5EF4-FFF2-40B4-BE49-F238E27FC236}">
                  <a16:creationId xmlns:a16="http://schemas.microsoft.com/office/drawing/2014/main" id="{23C08F9B-98FC-EAA8-F170-9DFC72F1E2D1}"/>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6B638819-E938-92E6-85E3-83DB4781E6AD}"/>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8A0F2E00-1F56-DA43-BC39-CF1D23BBE2DD}"/>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a:extLst>
                <a:ext uri="{FF2B5EF4-FFF2-40B4-BE49-F238E27FC236}">
                  <a16:creationId xmlns:a16="http://schemas.microsoft.com/office/drawing/2014/main" id="{22574F49-B0CA-ABD8-06B6-8B63313AC83F}"/>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59DF8B14-A995-2A5D-D49A-5FEB6109B7AC}"/>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E9DDC544-CFB7-FF35-C651-90DB255994C6}"/>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a:extLst>
                <a:ext uri="{FF2B5EF4-FFF2-40B4-BE49-F238E27FC236}">
                  <a16:creationId xmlns:a16="http://schemas.microsoft.com/office/drawing/2014/main" id="{5519A7CF-36B0-E5DF-CA4C-E3305A017B1F}"/>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3" name="TextBox 42">
            <a:extLst>
              <a:ext uri="{FF2B5EF4-FFF2-40B4-BE49-F238E27FC236}">
                <a16:creationId xmlns:a16="http://schemas.microsoft.com/office/drawing/2014/main" id="{825A7B4E-B6B6-4A34-72D3-B680576DECA5}"/>
              </a:ext>
            </a:extLst>
          </p:cNvPr>
          <p:cNvSpPr txBox="1"/>
          <p:nvPr/>
        </p:nvSpPr>
        <p:spPr>
          <a:xfrm>
            <a:off x="152400" y="342900"/>
            <a:ext cx="163068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425DEBF5-0117-6EC4-620D-73C59964241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657599" y="1504950"/>
            <a:ext cx="11572875" cy="5924550"/>
          </a:xfrm>
          <a:prstGeom prst="rect">
            <a:avLst/>
          </a:prstGeom>
        </p:spPr>
      </p:pic>
      <p:sp>
        <p:nvSpPr>
          <p:cNvPr id="5" name="Rectangle 1">
            <a:extLst>
              <a:ext uri="{FF2B5EF4-FFF2-40B4-BE49-F238E27FC236}">
                <a16:creationId xmlns:a16="http://schemas.microsoft.com/office/drawing/2014/main" id="{73998C10-7C40-9BFD-04A9-1280B0EB5524}"/>
              </a:ext>
            </a:extLst>
          </p:cNvPr>
          <p:cNvSpPr>
            <a:spLocks noChangeArrowheads="1"/>
          </p:cNvSpPr>
          <p:nvPr/>
        </p:nvSpPr>
        <p:spPr bwMode="auto">
          <a:xfrm>
            <a:off x="1981200" y="7863870"/>
            <a:ext cx="16102749" cy="1569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457200" marR="0" lvl="0" indent="-457200"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3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After successful booking and payment, the system generates a digital e-ticket with journey and seat </a:t>
            </a:r>
            <a:r>
              <a:rPr kumimoji="0" lang="en-US" altLang="en-US" sz="32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details.The</a:t>
            </a:r>
            <a:r>
              <a:rPr kumimoji="0" lang="en-US" altLang="en-US" sz="3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ticket is displayed to the user and can be downloaded or sent via email/SMS for confirmation.</a:t>
            </a:r>
          </a:p>
        </p:txBody>
      </p:sp>
    </p:spTree>
    <p:extLst>
      <p:ext uri="{BB962C8B-B14F-4D97-AF65-F5344CB8AC3E}">
        <p14:creationId xmlns:p14="http://schemas.microsoft.com/office/powerpoint/2010/main" val="120098772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F4F2BA-FD67-88B5-D00A-FB42DF0E42BE}"/>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EE523E47-FF12-EB4F-CE4E-15E2BD90E350}"/>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70BF7AEA-D128-304C-183A-EB3077D12DCC}"/>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a:extLst>
                <a:ext uri="{FF2B5EF4-FFF2-40B4-BE49-F238E27FC236}">
                  <a16:creationId xmlns:a16="http://schemas.microsoft.com/office/drawing/2014/main" id="{5E5B44C9-58D3-B109-89D1-E8FFD2315F0E}"/>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8(C)</a:t>
              </a:r>
            </a:p>
          </p:txBody>
        </p:sp>
      </p:grpSp>
      <p:grpSp>
        <p:nvGrpSpPr>
          <p:cNvPr id="10" name="Group 10">
            <a:extLst>
              <a:ext uri="{FF2B5EF4-FFF2-40B4-BE49-F238E27FC236}">
                <a16:creationId xmlns:a16="http://schemas.microsoft.com/office/drawing/2014/main" id="{74E56993-8907-140B-5665-32E2F0E72519}"/>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A11C3DB8-7383-8D70-BB09-1A750F2C0F80}"/>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a:extLst>
                <a:ext uri="{FF2B5EF4-FFF2-40B4-BE49-F238E27FC236}">
                  <a16:creationId xmlns:a16="http://schemas.microsoft.com/office/drawing/2014/main" id="{C6851A8C-42BC-3992-679E-AF3EB93D8C8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7FC4CA35-A97E-BE99-FA00-97839403BA62}"/>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06C0D29F-FB0D-BB96-D4AE-A8C22A8CB3EB}"/>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a:extLst>
                <a:ext uri="{FF2B5EF4-FFF2-40B4-BE49-F238E27FC236}">
                  <a16:creationId xmlns:a16="http://schemas.microsoft.com/office/drawing/2014/main" id="{DFDBF821-9269-FB5A-0458-881A0E029C57}"/>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14DA79A4-C081-806C-6C3A-C91A9D054D41}"/>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C5FDCDD9-077E-974D-5AC5-094EB0F0F9A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a:extLst>
                <a:ext uri="{FF2B5EF4-FFF2-40B4-BE49-F238E27FC236}">
                  <a16:creationId xmlns:a16="http://schemas.microsoft.com/office/drawing/2014/main" id="{0BD027CC-442F-A18F-1E78-2F68E60EBF6B}"/>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D8743EF0-28DB-F432-0FD1-1CA6C5202E92}"/>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836A8DF1-B551-FE2A-F144-BEB434B06EC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a:extLst>
                <a:ext uri="{FF2B5EF4-FFF2-40B4-BE49-F238E27FC236}">
                  <a16:creationId xmlns:a16="http://schemas.microsoft.com/office/drawing/2014/main" id="{561A89A0-58F9-057C-6EDE-74C4F5446FF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AF53D3D6-9FBD-55E1-7943-DBF89C0B7FD9}"/>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7FF8775B-97DF-7420-5EFD-8EB72B3097B3}"/>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a:extLst>
                <a:ext uri="{FF2B5EF4-FFF2-40B4-BE49-F238E27FC236}">
                  <a16:creationId xmlns:a16="http://schemas.microsoft.com/office/drawing/2014/main" id="{6E0800F5-9605-6E15-B0D5-CC1C1DEF93A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56835700-6327-3DF6-F246-625A9BB811E4}"/>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C045791B-6506-76B9-2340-8EB2633D356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a:extLst>
                <a:ext uri="{FF2B5EF4-FFF2-40B4-BE49-F238E27FC236}">
                  <a16:creationId xmlns:a16="http://schemas.microsoft.com/office/drawing/2014/main" id="{88D1A950-C54D-5AC4-4D6C-4E7E3BDFD211}"/>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976B9CD8-6827-A492-006D-876430D4A63E}"/>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DE122907-AE55-D4AB-0A97-62A51C31AE4D}"/>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a:extLst>
                <a:ext uri="{FF2B5EF4-FFF2-40B4-BE49-F238E27FC236}">
                  <a16:creationId xmlns:a16="http://schemas.microsoft.com/office/drawing/2014/main" id="{1A2A6DCC-7E15-52F6-783E-563DE4EDE043}"/>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1B6F1BAB-47A0-DD22-93AF-14EAB24A6100}"/>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6D7F4897-BA88-6C0E-DA58-A9E65DADA3C9}"/>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a:extLst>
                <a:ext uri="{FF2B5EF4-FFF2-40B4-BE49-F238E27FC236}">
                  <a16:creationId xmlns:a16="http://schemas.microsoft.com/office/drawing/2014/main" id="{567B0E0F-78E1-D4C5-BB5E-6866A52ABF0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grpSp>
        <p:nvGrpSpPr>
          <p:cNvPr id="35" name="Group 35">
            <a:extLst>
              <a:ext uri="{FF2B5EF4-FFF2-40B4-BE49-F238E27FC236}">
                <a16:creationId xmlns:a16="http://schemas.microsoft.com/office/drawing/2014/main" id="{CDA9535A-AF12-0C77-A819-68E316B95B01}"/>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AB3566A7-7E62-ED9D-5F2B-3D6E594172EF}"/>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a:extLst>
                <a:ext uri="{FF2B5EF4-FFF2-40B4-BE49-F238E27FC236}">
                  <a16:creationId xmlns:a16="http://schemas.microsoft.com/office/drawing/2014/main" id="{3966596B-4DE4-21F6-F8EB-0B1F9C6C8A90}"/>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9D65E6BB-7A3E-1F80-BE43-504A3408DC11}"/>
              </a:ext>
            </a:extLst>
          </p:cNvPr>
          <p:cNvSpPr txBox="1"/>
          <p:nvPr/>
        </p:nvSpPr>
        <p:spPr>
          <a:xfrm>
            <a:off x="819887" y="563829"/>
            <a:ext cx="15987543"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2F3DB2AE-C781-4307-53E3-F5A75E89458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00392" y="1982349"/>
            <a:ext cx="12954000" cy="7010400"/>
          </a:xfrm>
          <a:prstGeom prst="rect">
            <a:avLst/>
          </a:prstGeom>
        </p:spPr>
      </p:pic>
    </p:spTree>
    <p:extLst>
      <p:ext uri="{BB962C8B-B14F-4D97-AF65-F5344CB8AC3E}">
        <p14:creationId xmlns:p14="http://schemas.microsoft.com/office/powerpoint/2010/main" val="81285108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EBAB55-7601-3C41-6F10-EE0F67F7766F}"/>
            </a:ext>
          </a:extLst>
        </p:cNvPr>
        <p:cNvGrpSpPr/>
        <p:nvPr/>
      </p:nvGrpSpPr>
      <p:grpSpPr>
        <a:xfrm>
          <a:off x="0" y="0"/>
          <a:ext cx="0" cy="0"/>
          <a:chOff x="0" y="0"/>
          <a:chExt cx="0" cy="0"/>
        </a:xfrm>
      </p:grpSpPr>
      <p:grpSp>
        <p:nvGrpSpPr>
          <p:cNvPr id="5" name="Group 5">
            <a:extLst>
              <a:ext uri="{FF2B5EF4-FFF2-40B4-BE49-F238E27FC236}">
                <a16:creationId xmlns:a16="http://schemas.microsoft.com/office/drawing/2014/main" id="{B9E2C662-B058-485B-BFC3-199F93F6D154}"/>
              </a:ext>
            </a:extLst>
          </p:cNvPr>
          <p:cNvGrpSpPr/>
          <p:nvPr/>
        </p:nvGrpSpPr>
        <p:grpSpPr>
          <a:xfrm>
            <a:off x="735588" y="7321525"/>
            <a:ext cx="992463" cy="992463"/>
            <a:chOff x="0" y="0"/>
            <a:chExt cx="812800" cy="812800"/>
          </a:xfrm>
        </p:grpSpPr>
        <p:sp>
          <p:nvSpPr>
            <p:cNvPr id="6" name="Freeform 6">
              <a:extLst>
                <a:ext uri="{FF2B5EF4-FFF2-40B4-BE49-F238E27FC236}">
                  <a16:creationId xmlns:a16="http://schemas.microsoft.com/office/drawing/2014/main" id="{F125CA7A-BCD4-5B7F-7069-AE7F5BD10A9F}"/>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7" name="TextBox 7">
              <a:extLst>
                <a:ext uri="{FF2B5EF4-FFF2-40B4-BE49-F238E27FC236}">
                  <a16:creationId xmlns:a16="http://schemas.microsoft.com/office/drawing/2014/main" id="{07E08158-57E2-530C-A7FD-5AF72088CFEA}"/>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9</a:t>
              </a:r>
            </a:p>
          </p:txBody>
        </p:sp>
      </p:grpSp>
      <p:grpSp>
        <p:nvGrpSpPr>
          <p:cNvPr id="8" name="Group 8">
            <a:extLst>
              <a:ext uri="{FF2B5EF4-FFF2-40B4-BE49-F238E27FC236}">
                <a16:creationId xmlns:a16="http://schemas.microsoft.com/office/drawing/2014/main" id="{CB09EB64-B1EE-DA7A-E7DC-97163FE53167}"/>
              </a:ext>
            </a:extLst>
          </p:cNvPr>
          <p:cNvGrpSpPr/>
          <p:nvPr/>
        </p:nvGrpSpPr>
        <p:grpSpPr>
          <a:xfrm>
            <a:off x="977741" y="3315742"/>
            <a:ext cx="508158" cy="543805"/>
            <a:chOff x="0" y="0"/>
            <a:chExt cx="812800" cy="869819"/>
          </a:xfrm>
        </p:grpSpPr>
        <p:sp>
          <p:nvSpPr>
            <p:cNvPr id="9" name="Freeform 9">
              <a:extLst>
                <a:ext uri="{FF2B5EF4-FFF2-40B4-BE49-F238E27FC236}">
                  <a16:creationId xmlns:a16="http://schemas.microsoft.com/office/drawing/2014/main" id="{4B04A57D-53E9-134E-70C7-51485932A21F}"/>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0" name="TextBox 10">
              <a:extLst>
                <a:ext uri="{FF2B5EF4-FFF2-40B4-BE49-F238E27FC236}">
                  <a16:creationId xmlns:a16="http://schemas.microsoft.com/office/drawing/2014/main" id="{AC0A25AD-0459-BAEA-2E7B-0D9279AE1BC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1" name="Group 11">
            <a:extLst>
              <a:ext uri="{FF2B5EF4-FFF2-40B4-BE49-F238E27FC236}">
                <a16:creationId xmlns:a16="http://schemas.microsoft.com/office/drawing/2014/main" id="{E0EBC171-BEE8-2D5E-8755-EE50B2570259}"/>
              </a:ext>
            </a:extLst>
          </p:cNvPr>
          <p:cNvGrpSpPr/>
          <p:nvPr/>
        </p:nvGrpSpPr>
        <p:grpSpPr>
          <a:xfrm>
            <a:off x="977741" y="1982349"/>
            <a:ext cx="508158" cy="543805"/>
            <a:chOff x="0" y="0"/>
            <a:chExt cx="812800" cy="869819"/>
          </a:xfrm>
        </p:grpSpPr>
        <p:sp>
          <p:nvSpPr>
            <p:cNvPr id="12" name="Freeform 12">
              <a:extLst>
                <a:ext uri="{FF2B5EF4-FFF2-40B4-BE49-F238E27FC236}">
                  <a16:creationId xmlns:a16="http://schemas.microsoft.com/office/drawing/2014/main" id="{E4000A93-AB8F-B573-E218-7434988FD581}"/>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3" name="TextBox 13">
              <a:extLst>
                <a:ext uri="{FF2B5EF4-FFF2-40B4-BE49-F238E27FC236}">
                  <a16:creationId xmlns:a16="http://schemas.microsoft.com/office/drawing/2014/main" id="{1228826C-BC2E-0DA0-107F-341F9D1A494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4" name="Group 14">
            <a:extLst>
              <a:ext uri="{FF2B5EF4-FFF2-40B4-BE49-F238E27FC236}">
                <a16:creationId xmlns:a16="http://schemas.microsoft.com/office/drawing/2014/main" id="{7FD594E4-E181-FD3B-1C72-DE2D718C274A}"/>
              </a:ext>
            </a:extLst>
          </p:cNvPr>
          <p:cNvGrpSpPr/>
          <p:nvPr/>
        </p:nvGrpSpPr>
        <p:grpSpPr>
          <a:xfrm>
            <a:off x="977741" y="3983373"/>
            <a:ext cx="508158" cy="543805"/>
            <a:chOff x="0" y="0"/>
            <a:chExt cx="812800" cy="869819"/>
          </a:xfrm>
        </p:grpSpPr>
        <p:sp>
          <p:nvSpPr>
            <p:cNvPr id="15" name="Freeform 15">
              <a:extLst>
                <a:ext uri="{FF2B5EF4-FFF2-40B4-BE49-F238E27FC236}">
                  <a16:creationId xmlns:a16="http://schemas.microsoft.com/office/drawing/2014/main" id="{C16DA90C-521A-EFE9-8EE9-CB3967A50953}"/>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6" name="TextBox 16">
              <a:extLst>
                <a:ext uri="{FF2B5EF4-FFF2-40B4-BE49-F238E27FC236}">
                  <a16:creationId xmlns:a16="http://schemas.microsoft.com/office/drawing/2014/main" id="{5A678428-7466-DB88-0126-41232DE4A0D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a:extLst>
              <a:ext uri="{FF2B5EF4-FFF2-40B4-BE49-F238E27FC236}">
                <a16:creationId xmlns:a16="http://schemas.microsoft.com/office/drawing/2014/main" id="{91D279A8-BDAA-B12E-DD4B-9978E9D5005C}"/>
              </a:ext>
            </a:extLst>
          </p:cNvPr>
          <p:cNvGrpSpPr/>
          <p:nvPr/>
        </p:nvGrpSpPr>
        <p:grpSpPr>
          <a:xfrm>
            <a:off x="977741" y="2648112"/>
            <a:ext cx="508158" cy="543805"/>
            <a:chOff x="0" y="0"/>
            <a:chExt cx="812800" cy="869819"/>
          </a:xfrm>
        </p:grpSpPr>
        <p:sp>
          <p:nvSpPr>
            <p:cNvPr id="18" name="Freeform 18">
              <a:extLst>
                <a:ext uri="{FF2B5EF4-FFF2-40B4-BE49-F238E27FC236}">
                  <a16:creationId xmlns:a16="http://schemas.microsoft.com/office/drawing/2014/main" id="{308F1BB3-7F58-DE0C-71F1-9782E090619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9" name="TextBox 19">
              <a:extLst>
                <a:ext uri="{FF2B5EF4-FFF2-40B4-BE49-F238E27FC236}">
                  <a16:creationId xmlns:a16="http://schemas.microsoft.com/office/drawing/2014/main" id="{35F43F9B-B904-0414-7AA7-1E7959C4C9E9}"/>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0" name="Group 20">
            <a:extLst>
              <a:ext uri="{FF2B5EF4-FFF2-40B4-BE49-F238E27FC236}">
                <a16:creationId xmlns:a16="http://schemas.microsoft.com/office/drawing/2014/main" id="{311E9EBB-A9CE-A64F-FF44-F82C0D52AC32}"/>
              </a:ext>
            </a:extLst>
          </p:cNvPr>
          <p:cNvGrpSpPr/>
          <p:nvPr/>
        </p:nvGrpSpPr>
        <p:grpSpPr>
          <a:xfrm>
            <a:off x="977741" y="5318634"/>
            <a:ext cx="508158" cy="543805"/>
            <a:chOff x="0" y="0"/>
            <a:chExt cx="812800" cy="869819"/>
          </a:xfrm>
        </p:grpSpPr>
        <p:sp>
          <p:nvSpPr>
            <p:cNvPr id="21" name="Freeform 21">
              <a:extLst>
                <a:ext uri="{FF2B5EF4-FFF2-40B4-BE49-F238E27FC236}">
                  <a16:creationId xmlns:a16="http://schemas.microsoft.com/office/drawing/2014/main" id="{DED3A9EA-E50F-553B-EDAA-87F95FD22807}"/>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2" name="TextBox 22">
              <a:extLst>
                <a:ext uri="{FF2B5EF4-FFF2-40B4-BE49-F238E27FC236}">
                  <a16:creationId xmlns:a16="http://schemas.microsoft.com/office/drawing/2014/main" id="{7E9C7CEA-D993-4107-0776-54AC90E2062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3" name="Group 23">
            <a:extLst>
              <a:ext uri="{FF2B5EF4-FFF2-40B4-BE49-F238E27FC236}">
                <a16:creationId xmlns:a16="http://schemas.microsoft.com/office/drawing/2014/main" id="{7B397A27-1CC9-9661-DA24-10B3E1042399}"/>
              </a:ext>
            </a:extLst>
          </p:cNvPr>
          <p:cNvGrpSpPr/>
          <p:nvPr/>
        </p:nvGrpSpPr>
        <p:grpSpPr>
          <a:xfrm>
            <a:off x="977741" y="4651003"/>
            <a:ext cx="508158" cy="543805"/>
            <a:chOff x="0" y="0"/>
            <a:chExt cx="812800" cy="869819"/>
          </a:xfrm>
        </p:grpSpPr>
        <p:sp>
          <p:nvSpPr>
            <p:cNvPr id="24" name="Freeform 24">
              <a:extLst>
                <a:ext uri="{FF2B5EF4-FFF2-40B4-BE49-F238E27FC236}">
                  <a16:creationId xmlns:a16="http://schemas.microsoft.com/office/drawing/2014/main" id="{2A8CD899-9C63-11A3-805F-4CA0E12C7CB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5" name="TextBox 25">
              <a:extLst>
                <a:ext uri="{FF2B5EF4-FFF2-40B4-BE49-F238E27FC236}">
                  <a16:creationId xmlns:a16="http://schemas.microsoft.com/office/drawing/2014/main" id="{1976C224-9A36-532E-5E8B-B738C9FBC3FF}"/>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6" name="Group 26">
            <a:extLst>
              <a:ext uri="{FF2B5EF4-FFF2-40B4-BE49-F238E27FC236}">
                <a16:creationId xmlns:a16="http://schemas.microsoft.com/office/drawing/2014/main" id="{E8CFE39F-6666-6E69-8980-5B55F6D56478}"/>
              </a:ext>
            </a:extLst>
          </p:cNvPr>
          <p:cNvGrpSpPr/>
          <p:nvPr/>
        </p:nvGrpSpPr>
        <p:grpSpPr>
          <a:xfrm>
            <a:off x="977741" y="5986264"/>
            <a:ext cx="508158" cy="543805"/>
            <a:chOff x="0" y="0"/>
            <a:chExt cx="812800" cy="869819"/>
          </a:xfrm>
        </p:grpSpPr>
        <p:sp>
          <p:nvSpPr>
            <p:cNvPr id="27" name="Freeform 27">
              <a:extLst>
                <a:ext uri="{FF2B5EF4-FFF2-40B4-BE49-F238E27FC236}">
                  <a16:creationId xmlns:a16="http://schemas.microsoft.com/office/drawing/2014/main" id="{F859737D-AFDF-BDFC-6651-3B954F2DD46E}"/>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8" name="TextBox 28">
              <a:extLst>
                <a:ext uri="{FF2B5EF4-FFF2-40B4-BE49-F238E27FC236}">
                  <a16:creationId xmlns:a16="http://schemas.microsoft.com/office/drawing/2014/main" id="{B7B59B44-AD68-1549-9F86-A09D82459B5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9" name="Group 29">
            <a:extLst>
              <a:ext uri="{FF2B5EF4-FFF2-40B4-BE49-F238E27FC236}">
                <a16:creationId xmlns:a16="http://schemas.microsoft.com/office/drawing/2014/main" id="{3FACABC2-D51C-1EF5-0D1B-34B410283F2E}"/>
              </a:ext>
            </a:extLst>
          </p:cNvPr>
          <p:cNvGrpSpPr/>
          <p:nvPr/>
        </p:nvGrpSpPr>
        <p:grpSpPr>
          <a:xfrm>
            <a:off x="977741" y="6653894"/>
            <a:ext cx="508158" cy="543805"/>
            <a:chOff x="0" y="0"/>
            <a:chExt cx="812800" cy="869819"/>
          </a:xfrm>
        </p:grpSpPr>
        <p:sp>
          <p:nvSpPr>
            <p:cNvPr id="30" name="Freeform 30">
              <a:extLst>
                <a:ext uri="{FF2B5EF4-FFF2-40B4-BE49-F238E27FC236}">
                  <a16:creationId xmlns:a16="http://schemas.microsoft.com/office/drawing/2014/main" id="{6DD43112-BD1E-86D9-D9C6-3C97559FC56A}"/>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1" name="TextBox 31">
              <a:extLst>
                <a:ext uri="{FF2B5EF4-FFF2-40B4-BE49-F238E27FC236}">
                  <a16:creationId xmlns:a16="http://schemas.microsoft.com/office/drawing/2014/main" id="{C34845E4-4A4B-0A81-5A55-140048165790}"/>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4" name="Group 44">
            <a:extLst>
              <a:ext uri="{FF2B5EF4-FFF2-40B4-BE49-F238E27FC236}">
                <a16:creationId xmlns:a16="http://schemas.microsoft.com/office/drawing/2014/main" id="{FBD0A79F-CA0B-2560-37ED-E07624B11027}"/>
              </a:ext>
            </a:extLst>
          </p:cNvPr>
          <p:cNvGrpSpPr/>
          <p:nvPr/>
        </p:nvGrpSpPr>
        <p:grpSpPr>
          <a:xfrm>
            <a:off x="16786360" y="-353712"/>
            <a:ext cx="10994424" cy="10994424"/>
            <a:chOff x="0" y="0"/>
            <a:chExt cx="812800" cy="812800"/>
          </a:xfrm>
        </p:grpSpPr>
        <p:sp>
          <p:nvSpPr>
            <p:cNvPr id="45" name="Freeform 45">
              <a:extLst>
                <a:ext uri="{FF2B5EF4-FFF2-40B4-BE49-F238E27FC236}">
                  <a16:creationId xmlns:a16="http://schemas.microsoft.com/office/drawing/2014/main" id="{25583CD3-FA12-1B53-043B-9FE4E18BA02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619125" cap="sq">
              <a:solidFill>
                <a:srgbClr val="FD6220">
                  <a:alpha val="11765"/>
                </a:srgbClr>
              </a:solidFill>
              <a:prstDash val="solid"/>
              <a:miter/>
            </a:ln>
          </p:spPr>
        </p:sp>
        <p:sp>
          <p:nvSpPr>
            <p:cNvPr id="46" name="TextBox 46">
              <a:extLst>
                <a:ext uri="{FF2B5EF4-FFF2-40B4-BE49-F238E27FC236}">
                  <a16:creationId xmlns:a16="http://schemas.microsoft.com/office/drawing/2014/main" id="{FA405478-0BA8-4A85-A81A-B9346174FE61}"/>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2" name="TextBox 1">
            <a:extLst>
              <a:ext uri="{FF2B5EF4-FFF2-40B4-BE49-F238E27FC236}">
                <a16:creationId xmlns:a16="http://schemas.microsoft.com/office/drawing/2014/main" id="{BC926643-39EA-932E-6755-230476B3078D}"/>
              </a:ext>
            </a:extLst>
          </p:cNvPr>
          <p:cNvSpPr txBox="1"/>
          <p:nvPr/>
        </p:nvSpPr>
        <p:spPr>
          <a:xfrm>
            <a:off x="190500" y="290493"/>
            <a:ext cx="1612292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ADVANTAGES &amp; LIMITATIONS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87859040-075D-7DFF-5B0A-972110FDB2CA}"/>
              </a:ext>
            </a:extLst>
          </p:cNvPr>
          <p:cNvSpPr txBox="1"/>
          <p:nvPr/>
        </p:nvSpPr>
        <p:spPr>
          <a:xfrm>
            <a:off x="2107947" y="1858486"/>
            <a:ext cx="18706474" cy="6986528"/>
          </a:xfrm>
          <a:prstGeom prst="rect">
            <a:avLst/>
          </a:prstGeom>
          <a:noFill/>
        </p:spPr>
        <p:txBody>
          <a:bodyPr wrap="square">
            <a:spAutoFit/>
          </a:bodyPr>
          <a:lstStyle/>
          <a:p>
            <a:r>
              <a:rPr lang="en-US" sz="3200" b="1" dirty="0">
                <a:latin typeface="Times New Roman" panose="02020603050405020304" pitchFamily="18" charset="0"/>
                <a:cs typeface="Times New Roman" panose="02020603050405020304" pitchFamily="18" charset="0"/>
              </a:rPr>
              <a:t>Advantages</a:t>
            </a:r>
          </a:p>
          <a:p>
            <a:pPr marL="457200" indent="-457200">
              <a:buFont typeface="Arial" panose="020B0604020202020204" pitchFamily="34" charset="0"/>
              <a:buChar char="•"/>
            </a:pPr>
            <a:r>
              <a:rPr lang="en-US" sz="3200" b="1" dirty="0">
                <a:latin typeface="Times New Roman" panose="02020603050405020304" pitchFamily="18" charset="0"/>
                <a:cs typeface="Times New Roman" panose="02020603050405020304" pitchFamily="18" charset="0"/>
              </a:rPr>
              <a:t>Convenience:</a:t>
            </a:r>
            <a:r>
              <a:rPr lang="en-US" sz="3200" dirty="0">
                <a:latin typeface="Times New Roman" panose="02020603050405020304" pitchFamily="18" charset="0"/>
                <a:cs typeface="Times New Roman" panose="02020603050405020304" pitchFamily="18" charset="0"/>
              </a:rPr>
              <a:t> Users can book tickets anytime and anywhere without visiting booking counters. </a:t>
            </a:r>
          </a:p>
          <a:p>
            <a:pPr marL="457200" indent="-457200">
              <a:buFont typeface="Arial" panose="020B0604020202020204" pitchFamily="34" charset="0"/>
              <a:buChar char="•"/>
            </a:pPr>
            <a:r>
              <a:rPr lang="en-US" sz="3200" b="1" dirty="0">
                <a:latin typeface="Times New Roman" panose="02020603050405020304" pitchFamily="18" charset="0"/>
                <a:cs typeface="Times New Roman" panose="02020603050405020304" pitchFamily="18" charset="0"/>
              </a:rPr>
              <a:t>Time-Saving:</a:t>
            </a:r>
            <a:r>
              <a:rPr lang="en-US" sz="3200" dirty="0">
                <a:latin typeface="Times New Roman" panose="02020603050405020304" pitchFamily="18" charset="0"/>
                <a:cs typeface="Times New Roman" panose="02020603050405020304" pitchFamily="18" charset="0"/>
              </a:rPr>
              <a:t> Quick search, booking, and payment process reduces manual effort. </a:t>
            </a:r>
          </a:p>
          <a:p>
            <a:pPr marL="457200" indent="-457200">
              <a:buFont typeface="Arial" panose="020B0604020202020204" pitchFamily="34" charset="0"/>
              <a:buChar char="•"/>
            </a:pPr>
            <a:r>
              <a:rPr lang="en-US" sz="3200" b="1" dirty="0">
                <a:latin typeface="Times New Roman" panose="02020603050405020304" pitchFamily="18" charset="0"/>
                <a:cs typeface="Times New Roman" panose="02020603050405020304" pitchFamily="18" charset="0"/>
              </a:rPr>
              <a:t>Real-Time Availability:</a:t>
            </a:r>
            <a:r>
              <a:rPr lang="en-US" sz="3200" dirty="0">
                <a:latin typeface="Times New Roman" panose="02020603050405020304" pitchFamily="18" charset="0"/>
                <a:cs typeface="Times New Roman" panose="02020603050405020304" pitchFamily="18" charset="0"/>
              </a:rPr>
              <a:t> Shows live seat availability and schedules. </a:t>
            </a:r>
          </a:p>
          <a:p>
            <a:pPr marL="457200" indent="-457200">
              <a:buFont typeface="Arial" panose="020B0604020202020204" pitchFamily="34" charset="0"/>
              <a:buChar char="•"/>
            </a:pPr>
            <a:r>
              <a:rPr lang="en-US" sz="3200" b="1" dirty="0">
                <a:latin typeface="Times New Roman" panose="02020603050405020304" pitchFamily="18" charset="0"/>
                <a:cs typeface="Times New Roman" panose="02020603050405020304" pitchFamily="18" charset="0"/>
              </a:rPr>
              <a:t>Easy Payment:</a:t>
            </a:r>
            <a:r>
              <a:rPr lang="en-US" sz="3200" dirty="0">
                <a:latin typeface="Times New Roman" panose="02020603050405020304" pitchFamily="18" charset="0"/>
                <a:cs typeface="Times New Roman" panose="02020603050405020304" pitchFamily="18" charset="0"/>
              </a:rPr>
              <a:t> Supports online payment methods for faster transactions. </a:t>
            </a:r>
          </a:p>
          <a:p>
            <a:pPr marL="457200" indent="-457200">
              <a:buFont typeface="Arial" panose="020B0604020202020204" pitchFamily="34" charset="0"/>
              <a:buChar char="•"/>
            </a:pPr>
            <a:r>
              <a:rPr lang="en-US" sz="3200" b="1" dirty="0">
                <a:latin typeface="Times New Roman" panose="02020603050405020304" pitchFamily="18" charset="0"/>
                <a:cs typeface="Times New Roman" panose="02020603050405020304" pitchFamily="18" charset="0"/>
              </a:rPr>
              <a:t>Digital Records:</a:t>
            </a:r>
            <a:r>
              <a:rPr lang="en-US" sz="3200" dirty="0">
                <a:latin typeface="Times New Roman" panose="02020603050405020304" pitchFamily="18" charset="0"/>
                <a:cs typeface="Times New Roman" panose="02020603050405020304" pitchFamily="18" charset="0"/>
              </a:rPr>
              <a:t> Stores booking history and e-tickets for future reference. </a:t>
            </a:r>
          </a:p>
          <a:p>
            <a:pPr marL="457200" indent="-457200">
              <a:buFont typeface="Arial" panose="020B0604020202020204" pitchFamily="34" charset="0"/>
              <a:buChar char="•"/>
            </a:pPr>
            <a:br>
              <a:rPr lang="en-US" sz="3200" dirty="0">
                <a:latin typeface="Times New Roman" panose="02020603050405020304" pitchFamily="18" charset="0"/>
                <a:cs typeface="Times New Roman" panose="02020603050405020304" pitchFamily="18" charset="0"/>
              </a:rPr>
            </a:br>
            <a:endParaRPr lang="en-US" sz="3200" dirty="0">
              <a:latin typeface="Times New Roman" panose="02020603050405020304" pitchFamily="18" charset="0"/>
              <a:cs typeface="Times New Roman" panose="02020603050405020304" pitchFamily="18" charset="0"/>
            </a:endParaRPr>
          </a:p>
          <a:p>
            <a:r>
              <a:rPr lang="en-US" sz="3200" b="1" dirty="0">
                <a:latin typeface="Times New Roman" panose="02020603050405020304" pitchFamily="18" charset="0"/>
                <a:cs typeface="Times New Roman" panose="02020603050405020304" pitchFamily="18" charset="0"/>
              </a:rPr>
              <a:t>Limitations</a:t>
            </a:r>
          </a:p>
          <a:p>
            <a:pPr marL="457200" indent="-457200">
              <a:buFont typeface="Arial" panose="020B0604020202020204" pitchFamily="34" charset="0"/>
              <a:buChar char="•"/>
            </a:pPr>
            <a:r>
              <a:rPr lang="en-US" sz="3200" b="1" dirty="0">
                <a:latin typeface="Times New Roman" panose="02020603050405020304" pitchFamily="18" charset="0"/>
                <a:cs typeface="Times New Roman" panose="02020603050405020304" pitchFamily="18" charset="0"/>
              </a:rPr>
              <a:t>Internet Dependency:</a:t>
            </a:r>
            <a:r>
              <a:rPr lang="en-US" sz="3200" dirty="0">
                <a:latin typeface="Times New Roman" panose="02020603050405020304" pitchFamily="18" charset="0"/>
                <a:cs typeface="Times New Roman" panose="02020603050405020304" pitchFamily="18" charset="0"/>
              </a:rPr>
              <a:t> Requires stable internet connection to access services. </a:t>
            </a:r>
          </a:p>
          <a:p>
            <a:pPr marL="457200" indent="-457200">
              <a:buFont typeface="Arial" panose="020B0604020202020204" pitchFamily="34" charset="0"/>
              <a:buChar char="•"/>
            </a:pPr>
            <a:r>
              <a:rPr lang="en-US" sz="3200" b="1" dirty="0">
                <a:latin typeface="Times New Roman" panose="02020603050405020304" pitchFamily="18" charset="0"/>
                <a:cs typeface="Times New Roman" panose="02020603050405020304" pitchFamily="18" charset="0"/>
              </a:rPr>
              <a:t>Technical Issues:</a:t>
            </a:r>
            <a:r>
              <a:rPr lang="en-US" sz="3200" dirty="0">
                <a:latin typeface="Times New Roman" panose="02020603050405020304" pitchFamily="18" charset="0"/>
                <a:cs typeface="Times New Roman" panose="02020603050405020304" pitchFamily="18" charset="0"/>
              </a:rPr>
              <a:t> Server downtime or bugs may affect booking process. </a:t>
            </a:r>
          </a:p>
          <a:p>
            <a:pPr marL="457200" indent="-457200">
              <a:buFont typeface="Arial" panose="020B0604020202020204" pitchFamily="34" charset="0"/>
              <a:buChar char="•"/>
            </a:pPr>
            <a:r>
              <a:rPr lang="en-US" sz="3200" b="1" dirty="0">
                <a:latin typeface="Times New Roman" panose="02020603050405020304" pitchFamily="18" charset="0"/>
                <a:cs typeface="Times New Roman" panose="02020603050405020304" pitchFamily="18" charset="0"/>
              </a:rPr>
              <a:t>Security Risks:</a:t>
            </a:r>
            <a:r>
              <a:rPr lang="en-US" sz="3200" dirty="0">
                <a:latin typeface="Times New Roman" panose="02020603050405020304" pitchFamily="18" charset="0"/>
                <a:cs typeface="Times New Roman" panose="02020603050405020304" pitchFamily="18" charset="0"/>
              </a:rPr>
              <a:t> Online transactions may face data/privacy threats if not secured. </a:t>
            </a:r>
          </a:p>
          <a:p>
            <a:pPr marL="457200" indent="-457200">
              <a:buFont typeface="Arial" panose="020B0604020202020204" pitchFamily="34" charset="0"/>
              <a:buChar char="•"/>
            </a:pPr>
            <a:r>
              <a:rPr lang="en-US" sz="3200" b="1" dirty="0">
                <a:latin typeface="Times New Roman" panose="02020603050405020304" pitchFamily="18" charset="0"/>
                <a:cs typeface="Times New Roman" panose="02020603050405020304" pitchFamily="18" charset="0"/>
              </a:rPr>
              <a:t>Limited Access for Non-Tech Users:</a:t>
            </a:r>
            <a:r>
              <a:rPr lang="en-US" sz="3200" dirty="0">
                <a:latin typeface="Times New Roman" panose="02020603050405020304" pitchFamily="18" charset="0"/>
                <a:cs typeface="Times New Roman" panose="02020603050405020304" pitchFamily="18" charset="0"/>
              </a:rPr>
              <a:t> Some users may find it difficult to use the system. </a:t>
            </a:r>
          </a:p>
          <a:p>
            <a:pPr marL="457200" indent="-457200">
              <a:buFont typeface="Arial" panose="020B0604020202020204" pitchFamily="34" charset="0"/>
              <a:buChar char="•"/>
            </a:pPr>
            <a:r>
              <a:rPr lang="en-US" sz="3200" b="1" dirty="0">
                <a:latin typeface="Times New Roman" panose="02020603050405020304" pitchFamily="18" charset="0"/>
                <a:cs typeface="Times New Roman" panose="02020603050405020304" pitchFamily="18" charset="0"/>
              </a:rPr>
              <a:t>Third-Party Dependency:</a:t>
            </a:r>
            <a:r>
              <a:rPr lang="en-US" sz="3200" dirty="0">
                <a:latin typeface="Times New Roman" panose="02020603050405020304" pitchFamily="18" charset="0"/>
                <a:cs typeface="Times New Roman" panose="02020603050405020304" pitchFamily="18" charset="0"/>
              </a:rPr>
              <a:t> Relies on external APIs (payment, travel data), which may fail. </a:t>
            </a:r>
          </a:p>
        </p:txBody>
      </p:sp>
    </p:spTree>
    <p:extLst>
      <p:ext uri="{BB962C8B-B14F-4D97-AF65-F5344CB8AC3E}">
        <p14:creationId xmlns:p14="http://schemas.microsoft.com/office/powerpoint/2010/main" val="183897679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TextBox 43"/>
          <p:cNvSpPr txBox="1"/>
          <p:nvPr/>
        </p:nvSpPr>
        <p:spPr>
          <a:xfrm>
            <a:off x="3200400" y="4486172"/>
            <a:ext cx="11159653" cy="1314655"/>
          </a:xfrm>
          <a:prstGeom prst="rect">
            <a:avLst/>
          </a:prstGeom>
        </p:spPr>
        <p:txBody>
          <a:bodyPr wrap="square" lIns="0" tIns="0" rIns="0" bIns="0" rtlCol="0" anchor="t">
            <a:spAutoFit/>
          </a:bodyPr>
          <a:lstStyle/>
          <a:p>
            <a:pPr algn="ctr">
              <a:lnSpc>
                <a:spcPts val="10149"/>
              </a:lnSpc>
            </a:pPr>
            <a:r>
              <a:rPr lang="en-US" sz="11153" b="1" i="1" dirty="0">
                <a:solidFill>
                  <a:srgbClr val="191919"/>
                </a:solidFill>
                <a:latin typeface="Gotham Bold Italics"/>
                <a:ea typeface="Gotham Bold Italics"/>
                <a:cs typeface="Gotham Bold Italics"/>
                <a:sym typeface="Gotham Bold Italics"/>
              </a:rPr>
              <a:t>Thank you</a:t>
            </a:r>
          </a:p>
        </p:txBody>
      </p:sp>
      <p:grpSp>
        <p:nvGrpSpPr>
          <p:cNvPr id="44" name="Group 44"/>
          <p:cNvGrpSpPr/>
          <p:nvPr/>
        </p:nvGrpSpPr>
        <p:grpSpPr>
          <a:xfrm>
            <a:off x="16786360" y="-353712"/>
            <a:ext cx="10994424" cy="10994424"/>
            <a:chOff x="0" y="0"/>
            <a:chExt cx="812800" cy="812800"/>
          </a:xfrm>
        </p:grpSpPr>
        <p:sp>
          <p:nvSpPr>
            <p:cNvPr id="45" name="Freeform 4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619125" cap="sq">
              <a:solidFill>
                <a:srgbClr val="FD6220">
                  <a:alpha val="11765"/>
                </a:srgbClr>
              </a:solidFill>
              <a:prstDash val="solid"/>
              <a:miter/>
            </a:ln>
          </p:spPr>
        </p:sp>
        <p:sp>
          <p:nvSpPr>
            <p:cNvPr id="46" name="TextBox 46"/>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388</TotalTime>
  <Words>1526</Words>
  <Application>Microsoft Office PowerPoint</Application>
  <PresentationFormat>Custom</PresentationFormat>
  <Paragraphs>371</Paragraphs>
  <Slides>20</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20</vt:i4>
      </vt:variant>
    </vt:vector>
  </HeadingPairs>
  <TitlesOfParts>
    <vt:vector size="28" baseType="lpstr">
      <vt:lpstr>Bookman Old Style</vt:lpstr>
      <vt:lpstr>Calibri</vt:lpstr>
      <vt:lpstr>Cambria</vt:lpstr>
      <vt:lpstr>Gotham Bold Italics</vt:lpstr>
      <vt:lpstr>Arial</vt:lpstr>
      <vt:lpstr>Times New Roman</vt:lpstr>
      <vt:lpstr>Gotham</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White and Orange Simple Portfolio Presentation</dc:title>
  <dc:creator>Pravalika Obulapuram</dc:creator>
  <cp:lastModifiedBy>Pravalika Obulapuram</cp:lastModifiedBy>
  <cp:revision>18</cp:revision>
  <dcterms:created xsi:type="dcterms:W3CDTF">2006-08-16T00:00:00Z</dcterms:created>
  <dcterms:modified xsi:type="dcterms:W3CDTF">2026-05-05T19:15:36Z</dcterms:modified>
  <dc:identifier>DAHCaYqJ9OU</dc:identifier>
</cp:coreProperties>
</file>